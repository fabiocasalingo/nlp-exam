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4630400" cy="8229600"/>
  <p:notesSz cx="8229600" cy="14630400"/>
  <p:embeddedFontLst>
    <p:embeddedFont>
      <p:font typeface="Consolas" panose="020B0609020204030204" pitchFamily="49" charset="0"/>
      <p:regular r:id="rId11"/>
      <p:bold r:id="rId12"/>
      <p:italic r:id="rId13"/>
      <p:boldItalic r:id="rId14"/>
    </p:embeddedFont>
    <p:embeddedFont>
      <p:font typeface="IBM Plex Sans Light" panose="020B0403050203000203" pitchFamily="34" charset="0"/>
      <p:regular r:id="rId15"/>
    </p:embeddedFont>
    <p:embeddedFont>
      <p:font typeface="IBM Plex Sans Medium" panose="020B0603050203000203" pitchFamily="34" charset="0"/>
      <p:regular r:id="rId16"/>
    </p:embeddedFont>
    <p:embeddedFont>
      <p:font typeface="Roboto" panose="02000000000000000000" pitchFamily="2" charset="0"/>
      <p:regular r:id="rId17"/>
    </p:embeddedFont>
  </p:embeddedFontLst>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92C3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4" d="100"/>
          <a:sy n="74" d="100"/>
        </p:scale>
        <p:origin x="180" y="3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3.fntdata"/><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font" Target="fonts/font2.fntdata"/><Relationship Id="rId17" Type="http://schemas.openxmlformats.org/officeDocument/2006/relationships/font" Target="fonts/font7.fntdata"/><Relationship Id="rId2" Type="http://schemas.openxmlformats.org/officeDocument/2006/relationships/slide" Target="slides/slide1.xml"/><Relationship Id="rId16" Type="http://schemas.openxmlformats.org/officeDocument/2006/relationships/font" Target="fonts/font6.fntdata"/><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1.fntdata"/><Relationship Id="rId5" Type="http://schemas.openxmlformats.org/officeDocument/2006/relationships/slide" Target="slides/slide4.xml"/><Relationship Id="rId15" Type="http://schemas.openxmlformats.org/officeDocument/2006/relationships/font" Target="fonts/font5.fntdata"/><Relationship Id="rId10" Type="http://schemas.openxmlformats.org/officeDocument/2006/relationships/notesMaster" Target="notesMasters/notesMaster1.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4.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69160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2242A"/>
          </a:solidFill>
          <a:ln/>
        </p:spPr>
        <p:txBody>
          <a:bodyPr/>
          <a:lstStyle/>
          <a:p>
            <a:endParaRPr lang="it-IT"/>
          </a:p>
        </p:txBody>
      </p:sp>
      <p:sp>
        <p:nvSpPr>
          <p:cNvPr id="3" name="Shape 1"/>
          <p:cNvSpPr/>
          <p:nvPr/>
        </p:nvSpPr>
        <p:spPr>
          <a:xfrm>
            <a:off x="0" y="0"/>
            <a:ext cx="14630400" cy="8229600"/>
          </a:xfrm>
          <a:prstGeom prst="rect">
            <a:avLst/>
          </a:prstGeom>
          <a:solidFill>
            <a:srgbClr val="292C32"/>
          </a:solidFill>
          <a:ln/>
        </p:spPr>
        <p:txBody>
          <a:bodyPr/>
          <a:lstStyle/>
          <a:p>
            <a:endParaRPr lang="it-IT"/>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2242A"/>
          </a:solidFill>
          <a:ln/>
        </p:spPr>
        <p:txBody>
          <a:bodyPr/>
          <a:lstStyle/>
          <a:p>
            <a:endParaRPr lang="it-IT"/>
          </a:p>
        </p:txBody>
      </p:sp>
      <p:sp>
        <p:nvSpPr>
          <p:cNvPr id="3" name="Shape 1"/>
          <p:cNvSpPr/>
          <p:nvPr/>
        </p:nvSpPr>
        <p:spPr>
          <a:xfrm>
            <a:off x="0" y="0"/>
            <a:ext cx="14630400" cy="8229600"/>
          </a:xfrm>
          <a:prstGeom prst="rect">
            <a:avLst/>
          </a:prstGeom>
          <a:solidFill>
            <a:srgbClr val="292C32"/>
          </a:solidFill>
          <a:ln/>
        </p:spPr>
        <p:txBody>
          <a:bodyPr/>
          <a:lstStyle/>
          <a:p>
            <a:endParaRPr lang="it-IT"/>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2242A"/>
          </a:solidFill>
          <a:ln/>
        </p:spPr>
      </p:sp>
      <p:sp>
        <p:nvSpPr>
          <p:cNvPr id="3" name="Shape 1"/>
          <p:cNvSpPr/>
          <p:nvPr/>
        </p:nvSpPr>
        <p:spPr>
          <a:xfrm>
            <a:off x="0" y="0"/>
            <a:ext cx="14630400" cy="8229600"/>
          </a:xfrm>
          <a:prstGeom prst="rect">
            <a:avLst/>
          </a:prstGeom>
          <a:solidFill>
            <a:srgbClr val="292C32"/>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2242A"/>
          </a:solidFill>
          <a:ln/>
        </p:spPr>
      </p:sp>
      <p:sp>
        <p:nvSpPr>
          <p:cNvPr id="3" name="Shape 1"/>
          <p:cNvSpPr/>
          <p:nvPr/>
        </p:nvSpPr>
        <p:spPr>
          <a:xfrm>
            <a:off x="0" y="0"/>
            <a:ext cx="14630400" cy="8229600"/>
          </a:xfrm>
          <a:prstGeom prst="rect">
            <a:avLst/>
          </a:prstGeom>
          <a:solidFill>
            <a:srgbClr val="292C32"/>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2242A"/>
          </a:solidFill>
          <a:ln/>
        </p:spPr>
      </p:sp>
      <p:sp>
        <p:nvSpPr>
          <p:cNvPr id="3" name="Shape 1"/>
          <p:cNvSpPr/>
          <p:nvPr/>
        </p:nvSpPr>
        <p:spPr>
          <a:xfrm>
            <a:off x="0" y="0"/>
            <a:ext cx="14630400" cy="8229600"/>
          </a:xfrm>
          <a:prstGeom prst="rect">
            <a:avLst/>
          </a:prstGeom>
          <a:solidFill>
            <a:srgbClr val="292C32"/>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2242A"/>
          </a:solidFill>
          <a:ln/>
        </p:spPr>
      </p:sp>
      <p:sp>
        <p:nvSpPr>
          <p:cNvPr id="3" name="Shape 1"/>
          <p:cNvSpPr/>
          <p:nvPr/>
        </p:nvSpPr>
        <p:spPr>
          <a:xfrm>
            <a:off x="0" y="0"/>
            <a:ext cx="14630400" cy="8229600"/>
          </a:xfrm>
          <a:prstGeom prst="rect">
            <a:avLst/>
          </a:prstGeom>
          <a:solidFill>
            <a:srgbClr val="292C32"/>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2242A"/>
          </a:solidFill>
          <a:ln/>
        </p:spPr>
      </p:sp>
      <p:sp>
        <p:nvSpPr>
          <p:cNvPr id="3" name="Shape 1"/>
          <p:cNvSpPr/>
          <p:nvPr/>
        </p:nvSpPr>
        <p:spPr>
          <a:xfrm>
            <a:off x="0" y="0"/>
            <a:ext cx="14630400" cy="8229600"/>
          </a:xfrm>
          <a:prstGeom prst="rect">
            <a:avLst/>
          </a:prstGeom>
          <a:solidFill>
            <a:srgbClr val="292C32"/>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2242A"/>
          </a:solidFill>
          <a:ln/>
        </p:spPr>
      </p:sp>
      <p:sp>
        <p:nvSpPr>
          <p:cNvPr id="3" name="Shape 1"/>
          <p:cNvSpPr/>
          <p:nvPr/>
        </p:nvSpPr>
        <p:spPr>
          <a:xfrm>
            <a:off x="0" y="0"/>
            <a:ext cx="14630400" cy="8229600"/>
          </a:xfrm>
          <a:prstGeom prst="rect">
            <a:avLst/>
          </a:prstGeom>
          <a:solidFill>
            <a:srgbClr val="292C32"/>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5.xml"/><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sv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80190" y="2877264"/>
            <a:ext cx="5670590" cy="708779"/>
          </a:xfrm>
          <a:prstGeom prst="rect">
            <a:avLst/>
          </a:prstGeom>
          <a:noFill/>
          <a:ln/>
        </p:spPr>
        <p:txBody>
          <a:bodyPr wrap="none" lIns="0" tIns="0" rIns="0" bIns="0" rtlCol="0" anchor="t"/>
          <a:lstStyle/>
          <a:p>
            <a:pPr marL="0" indent="0" algn="l">
              <a:lnSpc>
                <a:spcPts val="5550"/>
              </a:lnSpc>
              <a:buNone/>
            </a:pPr>
            <a:r>
              <a:rPr lang="en-US" sz="4450" dirty="0">
                <a:solidFill>
                  <a:srgbClr val="F3F3F2"/>
                </a:solidFill>
                <a:latin typeface="IBM Plex Sans Medium" pitchFamily="34" charset="0"/>
                <a:ea typeface="IBM Plex Sans Medium" pitchFamily="34" charset="-122"/>
                <a:cs typeface="IBM Plex Sans Medium" pitchFamily="34" charset="-120"/>
              </a:rPr>
              <a:t>Mind the Gap</a:t>
            </a:r>
            <a:endParaRPr lang="en-US" sz="4450" dirty="0"/>
          </a:p>
        </p:txBody>
      </p:sp>
      <p:sp>
        <p:nvSpPr>
          <p:cNvPr id="4" name="Text 1"/>
          <p:cNvSpPr/>
          <p:nvPr/>
        </p:nvSpPr>
        <p:spPr>
          <a:xfrm>
            <a:off x="6280190" y="3676769"/>
            <a:ext cx="7464028" cy="354330"/>
          </a:xfrm>
          <a:prstGeom prst="rect">
            <a:avLst/>
          </a:prstGeom>
          <a:noFill/>
          <a:ln/>
        </p:spPr>
        <p:txBody>
          <a:bodyPr wrap="none" lIns="0" tIns="0" rIns="0" bIns="0" rtlCol="0" anchor="t"/>
          <a:lstStyle/>
          <a:p>
            <a:pPr marL="0" indent="0" algn="l">
              <a:lnSpc>
                <a:spcPts val="2750"/>
              </a:lnSpc>
              <a:buNone/>
            </a:pPr>
            <a:r>
              <a:rPr lang="en-US" sz="2200" dirty="0">
                <a:solidFill>
                  <a:srgbClr val="F3F3F2"/>
                </a:solidFill>
                <a:latin typeface="IBM Plex Sans Medium" pitchFamily="34" charset="0"/>
                <a:ea typeface="IBM Plex Sans Medium" pitchFamily="34" charset="-122"/>
                <a:cs typeface="IBM Plex Sans Medium" pitchFamily="34" charset="-120"/>
              </a:rPr>
              <a:t>Counterfactual Fine-tuning for Bias Mitigation in RoBERTa</a:t>
            </a:r>
            <a:endParaRPr lang="en-US" sz="2200" dirty="0"/>
          </a:p>
        </p:txBody>
      </p:sp>
      <p:sp>
        <p:nvSpPr>
          <p:cNvPr id="5" name="Text 2"/>
          <p:cNvSpPr/>
          <p:nvPr/>
        </p:nvSpPr>
        <p:spPr>
          <a:xfrm>
            <a:off x="6280190" y="4371261"/>
            <a:ext cx="7556421" cy="362903"/>
          </a:xfrm>
          <a:prstGeom prst="rect">
            <a:avLst/>
          </a:prstGeom>
          <a:noFill/>
          <a:ln/>
        </p:spPr>
        <p:txBody>
          <a:bodyPr wrap="none" lIns="0" tIns="0" rIns="0" bIns="0" rtlCol="0" anchor="t"/>
          <a:lstStyle/>
          <a:p>
            <a:pPr marL="0" indent="0" algn="l">
              <a:lnSpc>
                <a:spcPts val="2850"/>
              </a:lnSpc>
              <a:buNone/>
            </a:pPr>
            <a:r>
              <a:rPr lang="en-US" sz="1750" b="1" dirty="0">
                <a:solidFill>
                  <a:srgbClr val="D4D4D1"/>
                </a:solidFill>
                <a:latin typeface="Roboto" pitchFamily="34" charset="0"/>
                <a:ea typeface="Roboto" pitchFamily="34" charset="-122"/>
                <a:cs typeface="Roboto" pitchFamily="34" charset="-120"/>
              </a:rPr>
              <a:t>Fabio Casalingo</a:t>
            </a:r>
            <a:endParaRPr lang="en-US" sz="1750" dirty="0"/>
          </a:p>
        </p:txBody>
      </p:sp>
      <p:sp>
        <p:nvSpPr>
          <p:cNvPr id="6" name="Text 3"/>
          <p:cNvSpPr/>
          <p:nvPr/>
        </p:nvSpPr>
        <p:spPr>
          <a:xfrm>
            <a:off x="6280190" y="4989314"/>
            <a:ext cx="7556421" cy="362903"/>
          </a:xfrm>
          <a:prstGeom prst="rect">
            <a:avLst/>
          </a:prstGeom>
          <a:noFill/>
          <a:ln/>
        </p:spPr>
        <p:txBody>
          <a:bodyPr wrap="none" lIns="0" tIns="0" rIns="0" bIns="0" rtlCol="0" anchor="t"/>
          <a:lstStyle/>
          <a:p>
            <a:pPr marL="0" indent="0" algn="l">
              <a:lnSpc>
                <a:spcPts val="2850"/>
              </a:lnSpc>
              <a:buNone/>
            </a:pPr>
            <a:r>
              <a:rPr lang="en-US" sz="1750" dirty="0">
                <a:solidFill>
                  <a:srgbClr val="D4D4D1"/>
                </a:solidFill>
                <a:latin typeface="Roboto" pitchFamily="34" charset="0"/>
                <a:ea typeface="Roboto" pitchFamily="34" charset="-122"/>
                <a:cs typeface="Roboto" pitchFamily="34" charset="-120"/>
              </a:rPr>
              <a:t>NLP Exam</a:t>
            </a:r>
            <a:endParaRPr lang="en-US" sz="1750" dirty="0"/>
          </a:p>
        </p:txBody>
      </p:sp>
      <p:sp>
        <p:nvSpPr>
          <p:cNvPr id="7" name="Rettangolo 6">
            <a:extLst>
              <a:ext uri="{FF2B5EF4-FFF2-40B4-BE49-F238E27FC236}">
                <a16:creationId xmlns:a16="http://schemas.microsoft.com/office/drawing/2014/main" id="{5914D342-8E22-655D-2334-2B8B89447939}"/>
              </a:ext>
            </a:extLst>
          </p:cNvPr>
          <p:cNvSpPr/>
          <p:nvPr/>
        </p:nvSpPr>
        <p:spPr>
          <a:xfrm>
            <a:off x="11822805" y="7437549"/>
            <a:ext cx="2717443" cy="663262"/>
          </a:xfrm>
          <a:prstGeom prst="rect">
            <a:avLst/>
          </a:prstGeom>
          <a:solidFill>
            <a:srgbClr val="292C3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1089779"/>
            <a:ext cx="6421636" cy="708779"/>
          </a:xfrm>
          <a:prstGeom prst="rect">
            <a:avLst/>
          </a:prstGeom>
          <a:noFill/>
          <a:ln/>
        </p:spPr>
        <p:txBody>
          <a:bodyPr wrap="none" lIns="0" tIns="0" rIns="0" bIns="0" rtlCol="0" anchor="t"/>
          <a:lstStyle/>
          <a:p>
            <a:pPr marL="0" indent="0" algn="l">
              <a:lnSpc>
                <a:spcPts val="5550"/>
              </a:lnSpc>
              <a:buNone/>
            </a:pPr>
            <a:r>
              <a:rPr lang="en-US" sz="4450" dirty="0">
                <a:solidFill>
                  <a:srgbClr val="F3F3F2"/>
                </a:solidFill>
                <a:latin typeface="IBM Plex Sans Medium" pitchFamily="34" charset="0"/>
                <a:ea typeface="IBM Plex Sans Medium" pitchFamily="34" charset="-122"/>
                <a:cs typeface="IBM Plex Sans Medium" pitchFamily="34" charset="-120"/>
              </a:rPr>
              <a:t>The Surprising Discovery</a:t>
            </a:r>
            <a:endParaRPr lang="en-US" sz="4450" dirty="0"/>
          </a:p>
        </p:txBody>
      </p:sp>
      <p:sp>
        <p:nvSpPr>
          <p:cNvPr id="3" name="Text 1"/>
          <p:cNvSpPr/>
          <p:nvPr/>
        </p:nvSpPr>
        <p:spPr>
          <a:xfrm>
            <a:off x="793790" y="2365534"/>
            <a:ext cx="3402330" cy="425291"/>
          </a:xfrm>
          <a:prstGeom prst="rect">
            <a:avLst/>
          </a:prstGeom>
          <a:noFill/>
          <a:ln/>
        </p:spPr>
        <p:txBody>
          <a:bodyPr wrap="none" lIns="0" tIns="0" rIns="0" bIns="0" rtlCol="0" anchor="t"/>
          <a:lstStyle/>
          <a:p>
            <a:pPr marL="0" indent="0" algn="l">
              <a:lnSpc>
                <a:spcPts val="3300"/>
              </a:lnSpc>
              <a:buNone/>
            </a:pPr>
            <a:r>
              <a:rPr lang="en-US" sz="2650" dirty="0">
                <a:solidFill>
                  <a:srgbClr val="FF6B6B"/>
                </a:solidFill>
                <a:latin typeface="IBM Plex Sans Medium" pitchFamily="34" charset="0"/>
                <a:ea typeface="IBM Plex Sans Medium" pitchFamily="34" charset="-122"/>
                <a:cs typeface="IBM Plex Sans Medium" pitchFamily="34" charset="-120"/>
              </a:rPr>
              <a:t>Expected</a:t>
            </a:r>
            <a:endParaRPr lang="en-US" sz="2650" dirty="0"/>
          </a:p>
        </p:txBody>
      </p:sp>
      <p:sp>
        <p:nvSpPr>
          <p:cNvPr id="4" name="Text 2"/>
          <p:cNvSpPr/>
          <p:nvPr/>
        </p:nvSpPr>
        <p:spPr>
          <a:xfrm>
            <a:off x="793790" y="3017639"/>
            <a:ext cx="6244709"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D4D4D1"/>
                </a:solidFill>
                <a:latin typeface="Roboto" pitchFamily="34" charset="0"/>
                <a:ea typeface="Roboto" pitchFamily="34" charset="-122"/>
                <a:cs typeface="Roboto" pitchFamily="34" charset="-120"/>
              </a:rPr>
              <a:t>Significant bias in pre-trained models</a:t>
            </a:r>
            <a:endParaRPr lang="en-US" sz="1750" dirty="0"/>
          </a:p>
        </p:txBody>
      </p:sp>
      <p:sp>
        <p:nvSpPr>
          <p:cNvPr id="5" name="Text 3"/>
          <p:cNvSpPr/>
          <p:nvPr/>
        </p:nvSpPr>
        <p:spPr>
          <a:xfrm>
            <a:off x="793790" y="3459837"/>
            <a:ext cx="6244709"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D4D4D1"/>
                </a:solidFill>
                <a:latin typeface="Roboto" pitchFamily="34" charset="0"/>
                <a:ea typeface="Roboto" pitchFamily="34" charset="-122"/>
                <a:cs typeface="Roboto" pitchFamily="34" charset="-120"/>
              </a:rPr>
              <a:t>Counterfactual fine-tuning would reduce bias</a:t>
            </a:r>
            <a:endParaRPr lang="en-US" sz="1750" dirty="0"/>
          </a:p>
        </p:txBody>
      </p:sp>
      <p:sp>
        <p:nvSpPr>
          <p:cNvPr id="6" name="Text 4"/>
          <p:cNvSpPr/>
          <p:nvPr/>
        </p:nvSpPr>
        <p:spPr>
          <a:xfrm>
            <a:off x="793790" y="3902035"/>
            <a:ext cx="6244709"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D4D4D1"/>
                </a:solidFill>
                <a:latin typeface="Roboto" pitchFamily="34" charset="0"/>
                <a:ea typeface="Roboto" pitchFamily="34" charset="-122"/>
                <a:cs typeface="Roboto" pitchFamily="34" charset="-120"/>
              </a:rPr>
              <a:t>Clear improvement in fairness metrics</a:t>
            </a:r>
            <a:endParaRPr lang="en-US" sz="1750" dirty="0"/>
          </a:p>
        </p:txBody>
      </p:sp>
      <p:sp>
        <p:nvSpPr>
          <p:cNvPr id="7" name="Text 5"/>
          <p:cNvSpPr/>
          <p:nvPr/>
        </p:nvSpPr>
        <p:spPr>
          <a:xfrm>
            <a:off x="793790" y="4344233"/>
            <a:ext cx="6244709"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D4D4D1"/>
                </a:solidFill>
                <a:latin typeface="Roboto" pitchFamily="34" charset="0"/>
                <a:ea typeface="Roboto" pitchFamily="34" charset="-122"/>
                <a:cs typeface="Roboto" pitchFamily="34" charset="-120"/>
              </a:rPr>
              <a:t>Measurable gains in stereotype reduction</a:t>
            </a:r>
            <a:endParaRPr lang="en-US" sz="1750" dirty="0"/>
          </a:p>
        </p:txBody>
      </p:sp>
      <p:sp>
        <p:nvSpPr>
          <p:cNvPr id="8" name="Text 6"/>
          <p:cNvSpPr/>
          <p:nvPr/>
        </p:nvSpPr>
        <p:spPr>
          <a:xfrm>
            <a:off x="7599521" y="2365534"/>
            <a:ext cx="3402330" cy="425291"/>
          </a:xfrm>
          <a:prstGeom prst="rect">
            <a:avLst/>
          </a:prstGeom>
          <a:noFill/>
          <a:ln/>
        </p:spPr>
        <p:txBody>
          <a:bodyPr wrap="none" lIns="0" tIns="0" rIns="0" bIns="0" rtlCol="0" anchor="t"/>
          <a:lstStyle/>
          <a:p>
            <a:pPr marL="0" indent="0" algn="l">
              <a:lnSpc>
                <a:spcPts val="3300"/>
              </a:lnSpc>
              <a:buNone/>
            </a:pPr>
            <a:r>
              <a:rPr lang="en-US" sz="2650" dirty="0">
                <a:solidFill>
                  <a:srgbClr val="51CF66"/>
                </a:solidFill>
                <a:latin typeface="IBM Plex Sans Medium" pitchFamily="34" charset="0"/>
                <a:ea typeface="IBM Plex Sans Medium" pitchFamily="34" charset="-122"/>
                <a:cs typeface="IBM Plex Sans Medium" pitchFamily="34" charset="-120"/>
              </a:rPr>
              <a:t>Reality</a:t>
            </a:r>
            <a:endParaRPr lang="en-US" sz="2650" dirty="0"/>
          </a:p>
        </p:txBody>
      </p:sp>
      <p:sp>
        <p:nvSpPr>
          <p:cNvPr id="9" name="Text 7"/>
          <p:cNvSpPr/>
          <p:nvPr/>
        </p:nvSpPr>
        <p:spPr>
          <a:xfrm>
            <a:off x="7599521" y="3017640"/>
            <a:ext cx="6244709" cy="442198"/>
          </a:xfrm>
          <a:prstGeom prst="rect">
            <a:avLst/>
          </a:prstGeom>
          <a:noFill/>
          <a:ln/>
        </p:spPr>
        <p:txBody>
          <a:bodyPr wrap="square" lIns="0" tIns="0" rIns="0" bIns="0" rtlCol="0" anchor="t"/>
          <a:lstStyle/>
          <a:p>
            <a:pPr marL="0" indent="0" algn="l">
              <a:lnSpc>
                <a:spcPts val="2850"/>
              </a:lnSpc>
              <a:buNone/>
            </a:pPr>
            <a:r>
              <a:rPr lang="en-US" sz="1750" dirty="0">
                <a:solidFill>
                  <a:srgbClr val="D4D4D1"/>
                </a:solidFill>
                <a:latin typeface="Roboto" pitchFamily="34" charset="0"/>
                <a:ea typeface="Roboto" pitchFamily="34" charset="-122"/>
                <a:cs typeface="Roboto" pitchFamily="34" charset="-120"/>
              </a:rPr>
              <a:t>Baseline already near-perfect:</a:t>
            </a:r>
            <a:r>
              <a:rPr lang="en-US" sz="1750" b="1" dirty="0">
                <a:solidFill>
                  <a:srgbClr val="FFBC8F"/>
                </a:solidFill>
                <a:latin typeface="Roboto" pitchFamily="34" charset="0"/>
                <a:ea typeface="Roboto" pitchFamily="34" charset="-122"/>
                <a:cs typeface="Roboto" pitchFamily="34" charset="-120"/>
              </a:rPr>
              <a:t>51.06%</a:t>
            </a:r>
            <a:endParaRPr lang="en-US" sz="1750" dirty="0"/>
          </a:p>
        </p:txBody>
      </p:sp>
      <p:sp>
        <p:nvSpPr>
          <p:cNvPr id="10" name="Text 8"/>
          <p:cNvSpPr/>
          <p:nvPr/>
        </p:nvSpPr>
        <p:spPr>
          <a:xfrm>
            <a:off x="7599521" y="3483876"/>
            <a:ext cx="6244709" cy="362903"/>
          </a:xfrm>
          <a:prstGeom prst="rect">
            <a:avLst/>
          </a:prstGeom>
          <a:noFill/>
          <a:ln/>
        </p:spPr>
        <p:txBody>
          <a:bodyPr wrap="none" lIns="0" tIns="0" rIns="0" bIns="0" rtlCol="0" anchor="t"/>
          <a:lstStyle/>
          <a:p>
            <a:pPr marL="0" indent="0" algn="l">
              <a:lnSpc>
                <a:spcPts val="2850"/>
              </a:lnSpc>
              <a:buNone/>
            </a:pPr>
            <a:r>
              <a:rPr lang="en-US" sz="1750" dirty="0">
                <a:solidFill>
                  <a:srgbClr val="D4D4D1"/>
                </a:solidFill>
                <a:latin typeface="Roboto" pitchFamily="34" charset="0"/>
                <a:ea typeface="Roboto" pitchFamily="34" charset="-122"/>
                <a:cs typeface="Roboto" pitchFamily="34" charset="-120"/>
              </a:rPr>
              <a:t>Ideal target: </a:t>
            </a:r>
            <a:r>
              <a:rPr lang="en-US" sz="1750" b="1" dirty="0">
                <a:solidFill>
                  <a:srgbClr val="D4D4D1"/>
                </a:solidFill>
                <a:latin typeface="Roboto" pitchFamily="34" charset="0"/>
                <a:ea typeface="Roboto" pitchFamily="34" charset="-122"/>
                <a:cs typeface="Roboto" pitchFamily="34" charset="-120"/>
              </a:rPr>
              <a:t>50%</a:t>
            </a:r>
            <a:endParaRPr lang="en-US" sz="1750" dirty="0"/>
          </a:p>
        </p:txBody>
      </p:sp>
      <p:sp>
        <p:nvSpPr>
          <p:cNvPr id="11" name="Text 9"/>
          <p:cNvSpPr/>
          <p:nvPr/>
        </p:nvSpPr>
        <p:spPr>
          <a:xfrm>
            <a:off x="7599521" y="3986462"/>
            <a:ext cx="6244709" cy="362903"/>
          </a:xfrm>
          <a:prstGeom prst="rect">
            <a:avLst/>
          </a:prstGeom>
          <a:noFill/>
          <a:ln/>
        </p:spPr>
        <p:txBody>
          <a:bodyPr wrap="none" lIns="0" tIns="0" rIns="0" bIns="0" rtlCol="0" anchor="t"/>
          <a:lstStyle/>
          <a:p>
            <a:pPr marL="0" indent="0" algn="l">
              <a:lnSpc>
                <a:spcPts val="2850"/>
              </a:lnSpc>
              <a:buNone/>
            </a:pPr>
            <a:r>
              <a:rPr lang="en-US" sz="1750" dirty="0">
                <a:solidFill>
                  <a:srgbClr val="D4D4D1"/>
                </a:solidFill>
                <a:latin typeface="Roboto" pitchFamily="34" charset="0"/>
                <a:ea typeface="Roboto" pitchFamily="34" charset="-122"/>
                <a:cs typeface="Roboto" pitchFamily="34" charset="-120"/>
              </a:rPr>
              <a:t>Distance from ideal: only </a:t>
            </a:r>
            <a:r>
              <a:rPr lang="en-US" sz="1750" b="1" dirty="0">
                <a:solidFill>
                  <a:srgbClr val="D4D4D1"/>
                </a:solidFill>
                <a:latin typeface="Roboto" pitchFamily="34" charset="0"/>
                <a:ea typeface="Roboto" pitchFamily="34" charset="-122"/>
                <a:cs typeface="Roboto" pitchFamily="34" charset="-120"/>
              </a:rPr>
              <a:t>1.06 percentage points</a:t>
            </a:r>
            <a:endParaRPr lang="en-US" sz="1750" dirty="0"/>
          </a:p>
        </p:txBody>
      </p:sp>
      <p:sp>
        <p:nvSpPr>
          <p:cNvPr id="12" name="Text 10"/>
          <p:cNvSpPr/>
          <p:nvPr/>
        </p:nvSpPr>
        <p:spPr>
          <a:xfrm>
            <a:off x="7599521" y="4553437"/>
            <a:ext cx="6244709" cy="362903"/>
          </a:xfrm>
          <a:prstGeom prst="rect">
            <a:avLst/>
          </a:prstGeom>
          <a:noFill/>
          <a:ln/>
        </p:spPr>
        <p:txBody>
          <a:bodyPr wrap="none" lIns="0" tIns="0" rIns="0" bIns="0" rtlCol="0" anchor="t"/>
          <a:lstStyle/>
          <a:p>
            <a:pPr marL="0" indent="0" algn="l">
              <a:lnSpc>
                <a:spcPts val="2850"/>
              </a:lnSpc>
              <a:buNone/>
            </a:pPr>
            <a:r>
              <a:rPr lang="en-US" sz="1750" dirty="0">
                <a:solidFill>
                  <a:srgbClr val="D4D4D1"/>
                </a:solidFill>
                <a:latin typeface="Roboto" pitchFamily="34" charset="0"/>
                <a:ea typeface="Roboto" pitchFamily="34" charset="-122"/>
                <a:cs typeface="Roboto" pitchFamily="34" charset="-120"/>
              </a:rPr>
              <a:t>Minimal room for improvement!</a:t>
            </a:r>
            <a:endParaRPr lang="en-US" sz="1750" dirty="0"/>
          </a:p>
        </p:txBody>
      </p:sp>
      <p:sp>
        <p:nvSpPr>
          <p:cNvPr id="13" name="Text 11"/>
          <p:cNvSpPr/>
          <p:nvPr/>
        </p:nvSpPr>
        <p:spPr>
          <a:xfrm>
            <a:off x="1133951" y="6158746"/>
            <a:ext cx="12702659" cy="725805"/>
          </a:xfrm>
          <a:prstGeom prst="rect">
            <a:avLst/>
          </a:prstGeom>
          <a:noFill/>
          <a:ln/>
        </p:spPr>
        <p:txBody>
          <a:bodyPr wrap="square" lIns="0" tIns="0" rIns="0" bIns="0" rtlCol="0" anchor="t"/>
          <a:lstStyle/>
          <a:p>
            <a:pPr marL="0" indent="0" algn="l">
              <a:lnSpc>
                <a:spcPts val="2850"/>
              </a:lnSpc>
              <a:buNone/>
            </a:pPr>
            <a:r>
              <a:rPr lang="en-US" sz="1750" dirty="0">
                <a:solidFill>
                  <a:srgbClr val="D4D4D1"/>
                </a:solidFill>
                <a:latin typeface="Roboto" pitchFamily="34" charset="0"/>
                <a:ea typeface="Roboto" pitchFamily="34" charset="-122"/>
                <a:cs typeface="Roboto" pitchFamily="34" charset="-120"/>
              </a:rPr>
              <a:t>What we discovered changed our research trajectory from bias mitigation to understanding why some models exhibit less bias than expected.</a:t>
            </a:r>
            <a:endParaRPr lang="en-US" sz="1750" dirty="0"/>
          </a:p>
        </p:txBody>
      </p:sp>
      <p:sp>
        <p:nvSpPr>
          <p:cNvPr id="14" name="Shape 12"/>
          <p:cNvSpPr/>
          <p:nvPr/>
        </p:nvSpPr>
        <p:spPr>
          <a:xfrm>
            <a:off x="793790" y="5903595"/>
            <a:ext cx="30480" cy="1236107"/>
          </a:xfrm>
          <a:prstGeom prst="rect">
            <a:avLst/>
          </a:prstGeom>
          <a:solidFill>
            <a:srgbClr val="FFBC8F"/>
          </a:solidFill>
          <a:ln/>
        </p:spPr>
        <p:txBody>
          <a:bodyPr/>
          <a:lstStyle/>
          <a:p>
            <a:endParaRPr lang="it-IT"/>
          </a:p>
        </p:txBody>
      </p:sp>
      <p:sp>
        <p:nvSpPr>
          <p:cNvPr id="15" name="Rettangolo 14">
            <a:extLst>
              <a:ext uri="{FF2B5EF4-FFF2-40B4-BE49-F238E27FC236}">
                <a16:creationId xmlns:a16="http://schemas.microsoft.com/office/drawing/2014/main" id="{ED5C948A-96B9-2AC1-4128-8602AC6E3A7F}"/>
              </a:ext>
            </a:extLst>
          </p:cNvPr>
          <p:cNvSpPr/>
          <p:nvPr/>
        </p:nvSpPr>
        <p:spPr>
          <a:xfrm>
            <a:off x="11822805" y="7437549"/>
            <a:ext cx="2717443" cy="663262"/>
          </a:xfrm>
          <a:prstGeom prst="rect">
            <a:avLst/>
          </a:prstGeom>
          <a:solidFill>
            <a:srgbClr val="292C3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93790" y="1658898"/>
            <a:ext cx="10683002" cy="708779"/>
          </a:xfrm>
          <a:prstGeom prst="rect">
            <a:avLst/>
          </a:prstGeom>
          <a:noFill/>
          <a:ln/>
        </p:spPr>
        <p:txBody>
          <a:bodyPr wrap="none" lIns="0" tIns="0" rIns="0" bIns="0" rtlCol="0" anchor="t"/>
          <a:lstStyle/>
          <a:p>
            <a:pPr marL="0" indent="0" algn="l">
              <a:lnSpc>
                <a:spcPts val="5550"/>
              </a:lnSpc>
              <a:buNone/>
            </a:pPr>
            <a:r>
              <a:rPr lang="en-US" sz="4450" dirty="0">
                <a:solidFill>
                  <a:srgbClr val="F3F3F2"/>
                </a:solidFill>
                <a:latin typeface="IBM Plex Sans Medium" pitchFamily="34" charset="0"/>
                <a:ea typeface="IBM Plex Sans Medium" pitchFamily="34" charset="-122"/>
                <a:cs typeface="IBM Plex Sans Medium" pitchFamily="34" charset="-120"/>
              </a:rPr>
              <a:t>Methodology: Counterfactual Fine-tuning</a:t>
            </a:r>
            <a:endParaRPr lang="en-US" sz="4450" dirty="0"/>
          </a:p>
        </p:txBody>
      </p:sp>
      <p:sp>
        <p:nvSpPr>
          <p:cNvPr id="3" name="Shape 1"/>
          <p:cNvSpPr/>
          <p:nvPr/>
        </p:nvSpPr>
        <p:spPr>
          <a:xfrm>
            <a:off x="793790" y="2707838"/>
            <a:ext cx="6407944" cy="3862864"/>
          </a:xfrm>
          <a:prstGeom prst="roundRect">
            <a:avLst>
              <a:gd name="adj" fmla="val 881"/>
            </a:avLst>
          </a:prstGeom>
          <a:solidFill>
            <a:srgbClr val="292C32"/>
          </a:solidFill>
          <a:ln w="30480">
            <a:solidFill>
              <a:srgbClr val="61646A"/>
            </a:solidFill>
            <a:prstDash val="solid"/>
          </a:ln>
        </p:spPr>
        <p:txBody>
          <a:bodyPr/>
          <a:lstStyle/>
          <a:p>
            <a:endParaRPr lang="it-IT"/>
          </a:p>
        </p:txBody>
      </p:sp>
      <p:sp>
        <p:nvSpPr>
          <p:cNvPr id="4" name="Text 2"/>
          <p:cNvSpPr/>
          <p:nvPr/>
        </p:nvSpPr>
        <p:spPr>
          <a:xfrm>
            <a:off x="1051084" y="2965133"/>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D4D4D1"/>
                </a:solidFill>
                <a:latin typeface="IBM Plex Sans Medium" pitchFamily="34" charset="0"/>
                <a:ea typeface="IBM Plex Sans Medium" pitchFamily="34" charset="-122"/>
                <a:cs typeface="IBM Plex Sans Medium" pitchFamily="34" charset="-120"/>
              </a:rPr>
              <a:t>Dataset Composition</a:t>
            </a:r>
            <a:endParaRPr lang="en-US" sz="2200" dirty="0"/>
          </a:p>
        </p:txBody>
      </p:sp>
      <p:sp>
        <p:nvSpPr>
          <p:cNvPr id="5" name="Text 3"/>
          <p:cNvSpPr/>
          <p:nvPr/>
        </p:nvSpPr>
        <p:spPr>
          <a:xfrm>
            <a:off x="1051084" y="3455551"/>
            <a:ext cx="5893356" cy="725805"/>
          </a:xfrm>
          <a:prstGeom prst="rect">
            <a:avLst/>
          </a:prstGeom>
          <a:noFill/>
          <a:ln/>
        </p:spPr>
        <p:txBody>
          <a:bodyPr wrap="square" lIns="0" tIns="0" rIns="0" bIns="0" rtlCol="0" anchor="t"/>
          <a:lstStyle/>
          <a:p>
            <a:pPr marL="0" indent="0" algn="l">
              <a:lnSpc>
                <a:spcPts val="2850"/>
              </a:lnSpc>
              <a:buNone/>
            </a:pPr>
            <a:r>
              <a:rPr lang="en-US" sz="1750" b="1" dirty="0">
                <a:solidFill>
                  <a:srgbClr val="D4D4D1"/>
                </a:solidFill>
                <a:latin typeface="Roboto" pitchFamily="34" charset="0"/>
                <a:ea typeface="Roboto" pitchFamily="34" charset="-122"/>
                <a:cs typeface="Roboto" pitchFamily="34" charset="-120"/>
              </a:rPr>
              <a:t>WinoBias:</a:t>
            </a:r>
            <a:r>
              <a:rPr lang="en-US" sz="1750" dirty="0">
                <a:solidFill>
                  <a:srgbClr val="D4D4D1"/>
                </a:solidFill>
                <a:latin typeface="Roboto" pitchFamily="34" charset="0"/>
                <a:ea typeface="Roboto" pitchFamily="34" charset="-122"/>
                <a:cs typeface="Roboto" pitchFamily="34" charset="-120"/>
              </a:rPr>
              <a:t> 3,168 examples analyzing gender bias in professional contexts</a:t>
            </a:r>
            <a:endParaRPr lang="en-US" sz="1750" dirty="0"/>
          </a:p>
        </p:txBody>
      </p:sp>
      <p:sp>
        <p:nvSpPr>
          <p:cNvPr id="6" name="Text 4"/>
          <p:cNvSpPr/>
          <p:nvPr/>
        </p:nvSpPr>
        <p:spPr>
          <a:xfrm>
            <a:off x="1051084" y="4317444"/>
            <a:ext cx="5893356" cy="725805"/>
          </a:xfrm>
          <a:prstGeom prst="rect">
            <a:avLst/>
          </a:prstGeom>
          <a:noFill/>
          <a:ln/>
        </p:spPr>
        <p:txBody>
          <a:bodyPr wrap="square" lIns="0" tIns="0" rIns="0" bIns="0" rtlCol="0" anchor="t"/>
          <a:lstStyle/>
          <a:p>
            <a:pPr marL="0" indent="0" algn="l">
              <a:lnSpc>
                <a:spcPts val="2850"/>
              </a:lnSpc>
              <a:buNone/>
            </a:pPr>
            <a:r>
              <a:rPr lang="en-US" sz="1750" b="1" dirty="0">
                <a:solidFill>
                  <a:srgbClr val="D4D4D1"/>
                </a:solidFill>
                <a:latin typeface="Roboto" pitchFamily="34" charset="0"/>
                <a:ea typeface="Roboto" pitchFamily="34" charset="-122"/>
                <a:cs typeface="Roboto" pitchFamily="34" charset="-120"/>
              </a:rPr>
              <a:t>CrowS-Pairs:</a:t>
            </a:r>
            <a:r>
              <a:rPr lang="en-US" sz="1750" dirty="0">
                <a:solidFill>
                  <a:srgbClr val="D4D4D1"/>
                </a:solidFill>
                <a:latin typeface="Roboto" pitchFamily="34" charset="0"/>
                <a:ea typeface="Roboto" pitchFamily="34" charset="-122"/>
                <a:cs typeface="Roboto" pitchFamily="34" charset="-120"/>
              </a:rPr>
              <a:t> 1,508 sentence pairs covering gender, race, profession, and religion</a:t>
            </a:r>
            <a:endParaRPr lang="en-US" sz="1750" dirty="0"/>
          </a:p>
        </p:txBody>
      </p:sp>
      <p:sp>
        <p:nvSpPr>
          <p:cNvPr id="7" name="Text 5"/>
          <p:cNvSpPr/>
          <p:nvPr/>
        </p:nvSpPr>
        <p:spPr>
          <a:xfrm>
            <a:off x="1051084" y="5179338"/>
            <a:ext cx="5893356" cy="362903"/>
          </a:xfrm>
          <a:prstGeom prst="rect">
            <a:avLst/>
          </a:prstGeom>
          <a:noFill/>
          <a:ln/>
        </p:spPr>
        <p:txBody>
          <a:bodyPr wrap="none" lIns="0" tIns="0" rIns="0" bIns="0" rtlCol="0" anchor="t"/>
          <a:lstStyle/>
          <a:p>
            <a:pPr marL="0" indent="0" algn="l">
              <a:lnSpc>
                <a:spcPts val="2850"/>
              </a:lnSpc>
              <a:buNone/>
            </a:pPr>
            <a:r>
              <a:rPr lang="en-US" sz="1750" b="1" dirty="0">
                <a:solidFill>
                  <a:srgbClr val="D4D4D1"/>
                </a:solidFill>
                <a:latin typeface="Roboto" pitchFamily="34" charset="0"/>
                <a:ea typeface="Roboto" pitchFamily="34" charset="-122"/>
                <a:cs typeface="Roboto" pitchFamily="34" charset="-120"/>
              </a:rPr>
              <a:t>Total:</a:t>
            </a:r>
            <a:r>
              <a:rPr lang="en-US" sz="1750" dirty="0">
                <a:solidFill>
                  <a:srgbClr val="D4D4D1"/>
                </a:solidFill>
                <a:latin typeface="Roboto" pitchFamily="34" charset="0"/>
                <a:ea typeface="Roboto" pitchFamily="34" charset="-122"/>
                <a:cs typeface="Roboto" pitchFamily="34" charset="-120"/>
              </a:rPr>
              <a:t> </a:t>
            </a:r>
            <a:r>
              <a:rPr lang="en-US" sz="1750" dirty="0">
                <a:solidFill>
                  <a:srgbClr val="FFBC8F"/>
                </a:solidFill>
                <a:latin typeface="Roboto" pitchFamily="34" charset="0"/>
                <a:ea typeface="Roboto" pitchFamily="34" charset="-122"/>
                <a:cs typeface="Roboto" pitchFamily="34" charset="-120"/>
              </a:rPr>
              <a:t>6,184 balanced examples</a:t>
            </a:r>
            <a:endParaRPr lang="en-US" sz="1750" dirty="0"/>
          </a:p>
        </p:txBody>
      </p:sp>
      <p:sp>
        <p:nvSpPr>
          <p:cNvPr id="8" name="Text 6"/>
          <p:cNvSpPr/>
          <p:nvPr/>
        </p:nvSpPr>
        <p:spPr>
          <a:xfrm>
            <a:off x="1051084" y="5678329"/>
            <a:ext cx="5893356" cy="362903"/>
          </a:xfrm>
          <a:prstGeom prst="rect">
            <a:avLst/>
          </a:prstGeom>
          <a:noFill/>
          <a:ln/>
        </p:spPr>
        <p:txBody>
          <a:bodyPr wrap="none" lIns="0" tIns="0" rIns="0" bIns="0" rtlCol="0" anchor="t"/>
          <a:lstStyle/>
          <a:p>
            <a:pPr marL="0" indent="0" algn="l">
              <a:lnSpc>
                <a:spcPts val="2850"/>
              </a:lnSpc>
              <a:buNone/>
            </a:pPr>
            <a:r>
              <a:rPr lang="en-US" sz="1750" dirty="0">
                <a:solidFill>
                  <a:srgbClr val="D4D4D1"/>
                </a:solidFill>
                <a:latin typeface="Roboto" pitchFamily="34" charset="0"/>
                <a:ea typeface="Roboto" pitchFamily="34" charset="-122"/>
                <a:cs typeface="Roboto" pitchFamily="34" charset="-120"/>
              </a:rPr>
              <a:t>Split: 5,565 training / 619 validation</a:t>
            </a:r>
            <a:endParaRPr lang="en-US" sz="1750" dirty="0"/>
          </a:p>
        </p:txBody>
      </p:sp>
      <p:sp>
        <p:nvSpPr>
          <p:cNvPr id="9" name="Shape 7"/>
          <p:cNvSpPr/>
          <p:nvPr/>
        </p:nvSpPr>
        <p:spPr>
          <a:xfrm>
            <a:off x="7428548" y="2707838"/>
            <a:ext cx="6408063" cy="3862864"/>
          </a:xfrm>
          <a:prstGeom prst="roundRect">
            <a:avLst>
              <a:gd name="adj" fmla="val 881"/>
            </a:avLst>
          </a:prstGeom>
          <a:solidFill>
            <a:srgbClr val="292C32"/>
          </a:solidFill>
          <a:ln w="30480">
            <a:solidFill>
              <a:srgbClr val="61646A"/>
            </a:solidFill>
            <a:prstDash val="solid"/>
          </a:ln>
        </p:spPr>
        <p:txBody>
          <a:bodyPr/>
          <a:lstStyle/>
          <a:p>
            <a:endParaRPr lang="it-IT"/>
          </a:p>
        </p:txBody>
      </p:sp>
      <p:sp>
        <p:nvSpPr>
          <p:cNvPr id="10" name="Text 8"/>
          <p:cNvSpPr/>
          <p:nvPr/>
        </p:nvSpPr>
        <p:spPr>
          <a:xfrm>
            <a:off x="7685842" y="2965133"/>
            <a:ext cx="3320891" cy="354330"/>
          </a:xfrm>
          <a:prstGeom prst="rect">
            <a:avLst/>
          </a:prstGeom>
          <a:noFill/>
          <a:ln/>
        </p:spPr>
        <p:txBody>
          <a:bodyPr wrap="none" lIns="0" tIns="0" rIns="0" bIns="0" rtlCol="0" anchor="t"/>
          <a:lstStyle/>
          <a:p>
            <a:pPr marL="0" indent="0" algn="l">
              <a:lnSpc>
                <a:spcPts val="2750"/>
              </a:lnSpc>
              <a:buNone/>
            </a:pPr>
            <a:r>
              <a:rPr lang="en-US" sz="2200" dirty="0">
                <a:solidFill>
                  <a:srgbClr val="D4D4D1"/>
                </a:solidFill>
                <a:latin typeface="IBM Plex Sans Medium" pitchFamily="34" charset="0"/>
                <a:ea typeface="IBM Plex Sans Medium" pitchFamily="34" charset="-122"/>
                <a:cs typeface="IBM Plex Sans Medium" pitchFamily="34" charset="-120"/>
              </a:rPr>
              <a:t>Fine-tuning Configuration</a:t>
            </a:r>
            <a:endParaRPr lang="en-US" sz="2200" dirty="0"/>
          </a:p>
        </p:txBody>
      </p:sp>
      <p:sp>
        <p:nvSpPr>
          <p:cNvPr id="11" name="Text 9"/>
          <p:cNvSpPr/>
          <p:nvPr/>
        </p:nvSpPr>
        <p:spPr>
          <a:xfrm>
            <a:off x="7685842" y="3455551"/>
            <a:ext cx="5893475" cy="362903"/>
          </a:xfrm>
          <a:prstGeom prst="rect">
            <a:avLst/>
          </a:prstGeom>
          <a:noFill/>
          <a:ln/>
        </p:spPr>
        <p:txBody>
          <a:bodyPr wrap="none" lIns="0" tIns="0" rIns="0" bIns="0" rtlCol="0" anchor="t"/>
          <a:lstStyle/>
          <a:p>
            <a:pPr marL="0" indent="0" algn="l">
              <a:lnSpc>
                <a:spcPts val="2850"/>
              </a:lnSpc>
              <a:buNone/>
            </a:pPr>
            <a:r>
              <a:rPr lang="en-US" sz="1750" b="1" dirty="0">
                <a:solidFill>
                  <a:srgbClr val="D4D4D1"/>
                </a:solidFill>
                <a:latin typeface="Roboto" pitchFamily="34" charset="0"/>
                <a:ea typeface="Roboto" pitchFamily="34" charset="-122"/>
                <a:cs typeface="Roboto" pitchFamily="34" charset="-120"/>
              </a:rPr>
              <a:t>Model:</a:t>
            </a:r>
            <a:r>
              <a:rPr lang="en-US" sz="1750" dirty="0">
                <a:solidFill>
                  <a:srgbClr val="D4D4D1"/>
                </a:solidFill>
                <a:latin typeface="Roboto" pitchFamily="34" charset="0"/>
                <a:ea typeface="Roboto" pitchFamily="34" charset="-122"/>
                <a:cs typeface="Roboto" pitchFamily="34" charset="-120"/>
              </a:rPr>
              <a:t> RoBERTa-base</a:t>
            </a:r>
            <a:endParaRPr lang="en-US" sz="1750" dirty="0"/>
          </a:p>
        </p:txBody>
      </p:sp>
      <p:sp>
        <p:nvSpPr>
          <p:cNvPr id="12" name="Text 10"/>
          <p:cNvSpPr/>
          <p:nvPr/>
        </p:nvSpPr>
        <p:spPr>
          <a:xfrm>
            <a:off x="7685842" y="3954542"/>
            <a:ext cx="5893475" cy="362903"/>
          </a:xfrm>
          <a:prstGeom prst="rect">
            <a:avLst/>
          </a:prstGeom>
          <a:noFill/>
          <a:ln/>
        </p:spPr>
        <p:txBody>
          <a:bodyPr wrap="none" lIns="0" tIns="0" rIns="0" bIns="0" rtlCol="0" anchor="t"/>
          <a:lstStyle/>
          <a:p>
            <a:pPr marL="0" indent="0" algn="l">
              <a:lnSpc>
                <a:spcPts val="2850"/>
              </a:lnSpc>
              <a:buNone/>
            </a:pPr>
            <a:r>
              <a:rPr lang="en-US" sz="1750" b="1" dirty="0">
                <a:solidFill>
                  <a:srgbClr val="D4D4D1"/>
                </a:solidFill>
                <a:latin typeface="Roboto" pitchFamily="34" charset="0"/>
                <a:ea typeface="Roboto" pitchFamily="34" charset="-122"/>
                <a:cs typeface="Roboto" pitchFamily="34" charset="-120"/>
              </a:rPr>
              <a:t>Technique:</a:t>
            </a:r>
            <a:r>
              <a:rPr lang="en-US" sz="1750" dirty="0">
                <a:solidFill>
                  <a:srgbClr val="D4D4D1"/>
                </a:solidFill>
                <a:latin typeface="Roboto" pitchFamily="34" charset="0"/>
                <a:ea typeface="Roboto" pitchFamily="34" charset="-122"/>
                <a:cs typeface="Roboto" pitchFamily="34" charset="-120"/>
              </a:rPr>
              <a:t> Masked Language Modeling (MLM)</a:t>
            </a:r>
            <a:endParaRPr lang="en-US" sz="1750" dirty="0"/>
          </a:p>
        </p:txBody>
      </p:sp>
      <p:sp>
        <p:nvSpPr>
          <p:cNvPr id="13" name="Text 11"/>
          <p:cNvSpPr/>
          <p:nvPr/>
        </p:nvSpPr>
        <p:spPr>
          <a:xfrm>
            <a:off x="7685842" y="4453533"/>
            <a:ext cx="5893475" cy="362903"/>
          </a:xfrm>
          <a:prstGeom prst="rect">
            <a:avLst/>
          </a:prstGeom>
          <a:noFill/>
          <a:ln/>
        </p:spPr>
        <p:txBody>
          <a:bodyPr wrap="none" lIns="0" tIns="0" rIns="0" bIns="0" rtlCol="0" anchor="t"/>
          <a:lstStyle/>
          <a:p>
            <a:pPr marL="0" indent="0" algn="l">
              <a:lnSpc>
                <a:spcPts val="2850"/>
              </a:lnSpc>
              <a:buNone/>
            </a:pPr>
            <a:r>
              <a:rPr lang="en-US" sz="1750" b="1" dirty="0">
                <a:solidFill>
                  <a:srgbClr val="D4D4D1"/>
                </a:solidFill>
                <a:latin typeface="Roboto" pitchFamily="34" charset="0"/>
                <a:ea typeface="Roboto" pitchFamily="34" charset="-122"/>
                <a:cs typeface="Roboto" pitchFamily="34" charset="-120"/>
              </a:rPr>
              <a:t>Masking probability:</a:t>
            </a:r>
            <a:r>
              <a:rPr lang="en-US" sz="1750" dirty="0">
                <a:solidFill>
                  <a:srgbClr val="D4D4D1"/>
                </a:solidFill>
                <a:latin typeface="Roboto" pitchFamily="34" charset="0"/>
                <a:ea typeface="Roboto" pitchFamily="34" charset="-122"/>
                <a:cs typeface="Roboto" pitchFamily="34" charset="-120"/>
              </a:rPr>
              <a:t> 15%</a:t>
            </a:r>
            <a:endParaRPr lang="en-US" sz="1750" dirty="0"/>
          </a:p>
        </p:txBody>
      </p:sp>
      <p:sp>
        <p:nvSpPr>
          <p:cNvPr id="14" name="Text 12"/>
          <p:cNvSpPr/>
          <p:nvPr/>
        </p:nvSpPr>
        <p:spPr>
          <a:xfrm>
            <a:off x="7685842" y="4952524"/>
            <a:ext cx="5893475" cy="362903"/>
          </a:xfrm>
          <a:prstGeom prst="rect">
            <a:avLst/>
          </a:prstGeom>
          <a:noFill/>
          <a:ln/>
        </p:spPr>
        <p:txBody>
          <a:bodyPr wrap="none" lIns="0" tIns="0" rIns="0" bIns="0" rtlCol="0" anchor="t"/>
          <a:lstStyle/>
          <a:p>
            <a:pPr marL="0" indent="0" algn="l">
              <a:lnSpc>
                <a:spcPts val="2850"/>
              </a:lnSpc>
              <a:buNone/>
            </a:pPr>
            <a:r>
              <a:rPr lang="en-US" sz="1750" b="1" dirty="0">
                <a:solidFill>
                  <a:srgbClr val="D4D4D1"/>
                </a:solidFill>
                <a:latin typeface="Roboto" pitchFamily="34" charset="0"/>
                <a:ea typeface="Roboto" pitchFamily="34" charset="-122"/>
                <a:cs typeface="Roboto" pitchFamily="34" charset="-120"/>
              </a:rPr>
              <a:t>Hyperparameters:</a:t>
            </a:r>
            <a:r>
              <a:rPr lang="en-US" sz="1750" dirty="0">
                <a:solidFill>
                  <a:srgbClr val="D4D4D1"/>
                </a:solidFill>
                <a:latin typeface="Roboto" pitchFamily="34" charset="0"/>
                <a:ea typeface="Roboto" pitchFamily="34" charset="-122"/>
                <a:cs typeface="Roboto" pitchFamily="34" charset="-120"/>
              </a:rPr>
              <a:t> 3 epochs | LR = 2×10⁻⁵ | Batch size = 4</a:t>
            </a:r>
            <a:endParaRPr lang="en-US" sz="1750" dirty="0"/>
          </a:p>
        </p:txBody>
      </p:sp>
      <p:sp>
        <p:nvSpPr>
          <p:cNvPr id="15" name="Text 13"/>
          <p:cNvSpPr/>
          <p:nvPr/>
        </p:nvSpPr>
        <p:spPr>
          <a:xfrm>
            <a:off x="7685842" y="5451515"/>
            <a:ext cx="5893475" cy="362903"/>
          </a:xfrm>
          <a:prstGeom prst="rect">
            <a:avLst/>
          </a:prstGeom>
          <a:noFill/>
          <a:ln/>
        </p:spPr>
        <p:txBody>
          <a:bodyPr wrap="none" lIns="0" tIns="0" rIns="0" bIns="0" rtlCol="0" anchor="t"/>
          <a:lstStyle/>
          <a:p>
            <a:pPr marL="0" indent="0" algn="l">
              <a:lnSpc>
                <a:spcPts val="2850"/>
              </a:lnSpc>
              <a:buNone/>
            </a:pPr>
            <a:r>
              <a:rPr lang="en-US" sz="1750" b="1" dirty="0">
                <a:solidFill>
                  <a:srgbClr val="D4D4D1"/>
                </a:solidFill>
                <a:latin typeface="Roboto" pitchFamily="34" charset="0"/>
                <a:ea typeface="Roboto" pitchFamily="34" charset="-122"/>
                <a:cs typeface="Roboto" pitchFamily="34" charset="-120"/>
              </a:rPr>
              <a:t>GPU:</a:t>
            </a:r>
            <a:r>
              <a:rPr lang="en-US" sz="1750" dirty="0">
                <a:solidFill>
                  <a:srgbClr val="D4D4D1"/>
                </a:solidFill>
                <a:latin typeface="Roboto" pitchFamily="34" charset="0"/>
                <a:ea typeface="Roboto" pitchFamily="34" charset="-122"/>
                <a:cs typeface="Roboto" pitchFamily="34" charset="-120"/>
              </a:rPr>
              <a:t> NVIDIA RTX 3050 laptop</a:t>
            </a:r>
            <a:endParaRPr lang="en-US" sz="1750" dirty="0"/>
          </a:p>
        </p:txBody>
      </p:sp>
      <p:sp>
        <p:nvSpPr>
          <p:cNvPr id="16" name="Text 14"/>
          <p:cNvSpPr/>
          <p:nvPr/>
        </p:nvSpPr>
        <p:spPr>
          <a:xfrm>
            <a:off x="7685842" y="5950506"/>
            <a:ext cx="5893475" cy="362903"/>
          </a:xfrm>
          <a:prstGeom prst="rect">
            <a:avLst/>
          </a:prstGeom>
          <a:noFill/>
          <a:ln/>
        </p:spPr>
        <p:txBody>
          <a:bodyPr wrap="none" lIns="0" tIns="0" rIns="0" bIns="0" rtlCol="0" anchor="t"/>
          <a:lstStyle/>
          <a:p>
            <a:pPr marL="0" indent="0" algn="l">
              <a:lnSpc>
                <a:spcPts val="2850"/>
              </a:lnSpc>
              <a:buNone/>
            </a:pPr>
            <a:r>
              <a:rPr lang="en-US" sz="1750" b="1" dirty="0">
                <a:solidFill>
                  <a:srgbClr val="D4D4D1"/>
                </a:solidFill>
                <a:latin typeface="Roboto" pitchFamily="34" charset="0"/>
                <a:ea typeface="Roboto" pitchFamily="34" charset="-122"/>
                <a:cs typeface="Roboto" pitchFamily="34" charset="-120"/>
              </a:rPr>
              <a:t>Training time:</a:t>
            </a:r>
            <a:r>
              <a:rPr lang="en-US" sz="1750" dirty="0">
                <a:solidFill>
                  <a:srgbClr val="D4D4D1"/>
                </a:solidFill>
                <a:latin typeface="Roboto" pitchFamily="34" charset="0"/>
                <a:ea typeface="Roboto" pitchFamily="34" charset="-122"/>
                <a:cs typeface="Roboto" pitchFamily="34" charset="-120"/>
              </a:rPr>
              <a:t> </a:t>
            </a:r>
            <a:r>
              <a:rPr lang="en-US" sz="1750" dirty="0">
                <a:solidFill>
                  <a:srgbClr val="FFBC8F"/>
                </a:solidFill>
                <a:latin typeface="Roboto" pitchFamily="34" charset="0"/>
                <a:ea typeface="Roboto" pitchFamily="34" charset="-122"/>
                <a:cs typeface="Roboto" pitchFamily="34" charset="-120"/>
              </a:rPr>
              <a:t>16.5 minutes</a:t>
            </a:r>
            <a:r>
              <a:rPr lang="en-US" sz="1750" dirty="0">
                <a:solidFill>
                  <a:srgbClr val="D4D4D1"/>
                </a:solidFill>
                <a:latin typeface="Roboto" pitchFamily="34" charset="0"/>
                <a:ea typeface="Roboto" pitchFamily="34" charset="-122"/>
                <a:cs typeface="Roboto" pitchFamily="34" charset="-120"/>
              </a:rPr>
              <a:t> | Final loss: 1.61</a:t>
            </a:r>
            <a:endParaRPr lang="en-US" sz="1750" dirty="0"/>
          </a:p>
        </p:txBody>
      </p:sp>
      <p:sp>
        <p:nvSpPr>
          <p:cNvPr id="17" name="Rettangolo 16">
            <a:extLst>
              <a:ext uri="{FF2B5EF4-FFF2-40B4-BE49-F238E27FC236}">
                <a16:creationId xmlns:a16="http://schemas.microsoft.com/office/drawing/2014/main" id="{B5479C6E-319F-C721-B33B-3578EEE3FECC}"/>
              </a:ext>
            </a:extLst>
          </p:cNvPr>
          <p:cNvSpPr/>
          <p:nvPr/>
        </p:nvSpPr>
        <p:spPr>
          <a:xfrm>
            <a:off x="11822805" y="7437549"/>
            <a:ext cx="2717443" cy="663262"/>
          </a:xfrm>
          <a:prstGeom prst="rect">
            <a:avLst/>
          </a:prstGeom>
          <a:solidFill>
            <a:srgbClr val="292C3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3790" y="839867"/>
            <a:ext cx="5231130" cy="637937"/>
          </a:xfrm>
          <a:prstGeom prst="rect">
            <a:avLst/>
          </a:prstGeom>
          <a:noFill/>
          <a:ln/>
        </p:spPr>
        <p:txBody>
          <a:bodyPr wrap="none" lIns="0" tIns="0" rIns="0" bIns="0" rtlCol="0" anchor="t"/>
          <a:lstStyle/>
          <a:p>
            <a:pPr marL="0" indent="0" algn="l">
              <a:lnSpc>
                <a:spcPts val="5000"/>
              </a:lnSpc>
              <a:buNone/>
            </a:pPr>
            <a:r>
              <a:rPr lang="en-US" sz="4000" dirty="0">
                <a:solidFill>
                  <a:srgbClr val="F3F3F2"/>
                </a:solidFill>
                <a:latin typeface="IBM Plex Sans Medium" pitchFamily="34" charset="0"/>
                <a:ea typeface="IBM Plex Sans Medium" pitchFamily="34" charset="-122"/>
                <a:cs typeface="IBM Plex Sans Medium" pitchFamily="34" charset="-120"/>
              </a:rPr>
              <a:t>Evaluation Framework</a:t>
            </a:r>
            <a:endParaRPr lang="en-US" sz="4000" dirty="0"/>
          </a:p>
        </p:txBody>
      </p:sp>
      <p:sp>
        <p:nvSpPr>
          <p:cNvPr id="3" name="Text 1"/>
          <p:cNvSpPr/>
          <p:nvPr/>
        </p:nvSpPr>
        <p:spPr>
          <a:xfrm>
            <a:off x="793790" y="1886069"/>
            <a:ext cx="13042821" cy="326708"/>
          </a:xfrm>
          <a:prstGeom prst="rect">
            <a:avLst/>
          </a:prstGeom>
          <a:noFill/>
          <a:ln/>
        </p:spPr>
        <p:txBody>
          <a:bodyPr wrap="none" lIns="0" tIns="0" rIns="0" bIns="0" rtlCol="0" anchor="t"/>
          <a:lstStyle/>
          <a:p>
            <a:pPr marL="0" indent="0" algn="l">
              <a:lnSpc>
                <a:spcPts val="2550"/>
              </a:lnSpc>
              <a:buNone/>
            </a:pPr>
            <a:r>
              <a:rPr lang="en-US" sz="1600" dirty="0">
                <a:solidFill>
                  <a:srgbClr val="D4D4D1"/>
                </a:solidFill>
                <a:latin typeface="Roboto" pitchFamily="34" charset="0"/>
                <a:ea typeface="Roboto" pitchFamily="34" charset="-122"/>
                <a:cs typeface="Roboto" pitchFamily="34" charset="-120"/>
              </a:rPr>
              <a:t>Using the </a:t>
            </a:r>
            <a:r>
              <a:rPr lang="en-US" sz="1600" b="1" dirty="0">
                <a:solidFill>
                  <a:srgbClr val="D4D4D1"/>
                </a:solidFill>
                <a:latin typeface="Roboto" pitchFamily="34" charset="0"/>
                <a:ea typeface="Roboto" pitchFamily="34" charset="-122"/>
                <a:cs typeface="Roboto" pitchFamily="34" charset="-120"/>
              </a:rPr>
              <a:t>StereoSet Benchmark</a:t>
            </a:r>
            <a:r>
              <a:rPr lang="en-US" sz="1600" dirty="0">
                <a:solidFill>
                  <a:srgbClr val="D4D4D1"/>
                </a:solidFill>
                <a:latin typeface="Roboto" pitchFamily="34" charset="0"/>
                <a:ea typeface="Roboto" pitchFamily="34" charset="-122"/>
                <a:cs typeface="Roboto" pitchFamily="34" charset="-120"/>
              </a:rPr>
              <a:t>: 6,392 intrasentence examples across four bias domains</a:t>
            </a:r>
            <a:endParaRPr lang="en-US" sz="1600" dirty="0"/>
          </a:p>
        </p:txBody>
      </p:sp>
      <p:sp>
        <p:nvSpPr>
          <p:cNvPr id="4" name="Text 2"/>
          <p:cNvSpPr/>
          <p:nvPr/>
        </p:nvSpPr>
        <p:spPr>
          <a:xfrm>
            <a:off x="793790" y="2442329"/>
            <a:ext cx="13042821" cy="326708"/>
          </a:xfrm>
          <a:prstGeom prst="rect">
            <a:avLst/>
          </a:prstGeom>
          <a:noFill/>
          <a:ln/>
        </p:spPr>
        <p:txBody>
          <a:bodyPr wrap="none" lIns="0" tIns="0" rIns="0" bIns="0" rtlCol="0" anchor="t"/>
          <a:lstStyle/>
          <a:p>
            <a:pPr marL="0" indent="0" algn="l">
              <a:lnSpc>
                <a:spcPts val="2550"/>
              </a:lnSpc>
              <a:buNone/>
            </a:pPr>
            <a:r>
              <a:rPr lang="en-US" sz="1600" dirty="0">
                <a:solidFill>
                  <a:srgbClr val="D4D4D1"/>
                </a:solidFill>
                <a:latin typeface="Roboto" pitchFamily="34" charset="0"/>
                <a:ea typeface="Roboto" pitchFamily="34" charset="-122"/>
                <a:cs typeface="Roboto" pitchFamily="34" charset="-120"/>
              </a:rPr>
              <a:t>Gender: 771 | Profession: 2,398 | Race: 2,976 | Religion: 488</a:t>
            </a:r>
            <a:endParaRPr lang="en-US" sz="1600" dirty="0"/>
          </a:p>
        </p:txBody>
      </p:sp>
      <p:sp>
        <p:nvSpPr>
          <p:cNvPr id="5" name="Shape 3"/>
          <p:cNvSpPr/>
          <p:nvPr/>
        </p:nvSpPr>
        <p:spPr>
          <a:xfrm>
            <a:off x="793790" y="2998589"/>
            <a:ext cx="4211479" cy="4391144"/>
          </a:xfrm>
          <a:prstGeom prst="roundRect">
            <a:avLst>
              <a:gd name="adj" fmla="val 727"/>
            </a:avLst>
          </a:prstGeom>
          <a:solidFill>
            <a:srgbClr val="484B51"/>
          </a:solidFill>
          <a:ln/>
        </p:spPr>
        <p:txBody>
          <a:bodyPr/>
          <a:lstStyle/>
          <a:p>
            <a:endParaRPr lang="it-IT"/>
          </a:p>
        </p:txBody>
      </p:sp>
      <p:sp>
        <p:nvSpPr>
          <p:cNvPr id="6" name="Shape 4"/>
          <p:cNvSpPr/>
          <p:nvPr/>
        </p:nvSpPr>
        <p:spPr>
          <a:xfrm>
            <a:off x="997863" y="3202662"/>
            <a:ext cx="612338" cy="612338"/>
          </a:xfrm>
          <a:prstGeom prst="roundRect">
            <a:avLst>
              <a:gd name="adj" fmla="val 14931436"/>
            </a:avLst>
          </a:prstGeom>
          <a:solidFill>
            <a:srgbClr val="FFBC8F"/>
          </a:solidFill>
          <a:ln/>
        </p:spPr>
        <p:txBody>
          <a:bodyPr/>
          <a:lstStyle/>
          <a:p>
            <a:endParaRPr lang="it-IT"/>
          </a:p>
        </p:txBody>
      </p:sp>
      <p:pic>
        <p:nvPicPr>
          <p:cNvPr id="7"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66217" y="3371017"/>
            <a:ext cx="275511" cy="275511"/>
          </a:xfrm>
          <a:prstGeom prst="rect">
            <a:avLst/>
          </a:prstGeom>
        </p:spPr>
      </p:pic>
      <p:sp>
        <p:nvSpPr>
          <p:cNvPr id="8" name="Text 5"/>
          <p:cNvSpPr/>
          <p:nvPr/>
        </p:nvSpPr>
        <p:spPr>
          <a:xfrm>
            <a:off x="997863" y="4019074"/>
            <a:ext cx="2551748" cy="318849"/>
          </a:xfrm>
          <a:prstGeom prst="rect">
            <a:avLst/>
          </a:prstGeom>
          <a:noFill/>
          <a:ln/>
        </p:spPr>
        <p:txBody>
          <a:bodyPr wrap="none" lIns="0" tIns="0" rIns="0" bIns="0" rtlCol="0" anchor="t"/>
          <a:lstStyle/>
          <a:p>
            <a:pPr marL="0" indent="0" algn="l">
              <a:lnSpc>
                <a:spcPts val="2500"/>
              </a:lnSpc>
              <a:buNone/>
            </a:pPr>
            <a:r>
              <a:rPr lang="en-US" sz="2000" dirty="0">
                <a:solidFill>
                  <a:srgbClr val="D4D4D1"/>
                </a:solidFill>
                <a:latin typeface="IBM Plex Sans Medium" pitchFamily="34" charset="0"/>
                <a:ea typeface="IBM Plex Sans Medium" pitchFamily="34" charset="-122"/>
                <a:cs typeface="IBM Plex Sans Medium" pitchFamily="34" charset="-120"/>
              </a:rPr>
              <a:t>Stereotype Score (SS)</a:t>
            </a:r>
            <a:endParaRPr lang="en-US" sz="2000" dirty="0"/>
          </a:p>
        </p:txBody>
      </p:sp>
      <p:sp>
        <p:nvSpPr>
          <p:cNvPr id="9" name="Shape 6"/>
          <p:cNvSpPr/>
          <p:nvPr/>
        </p:nvSpPr>
        <p:spPr>
          <a:xfrm>
            <a:off x="997863" y="4567476"/>
            <a:ext cx="3803333" cy="959406"/>
          </a:xfrm>
          <a:prstGeom prst="roundRect">
            <a:avLst>
              <a:gd name="adj" fmla="val 3192"/>
            </a:avLst>
          </a:prstGeom>
          <a:solidFill>
            <a:srgbClr val="36393F"/>
          </a:solidFill>
          <a:ln/>
        </p:spPr>
        <p:txBody>
          <a:bodyPr/>
          <a:lstStyle/>
          <a:p>
            <a:endParaRPr lang="it-IT"/>
          </a:p>
        </p:txBody>
      </p:sp>
      <p:sp>
        <p:nvSpPr>
          <p:cNvPr id="10" name="Shape 7"/>
          <p:cNvSpPr/>
          <p:nvPr/>
        </p:nvSpPr>
        <p:spPr>
          <a:xfrm>
            <a:off x="987742" y="4567476"/>
            <a:ext cx="3823573" cy="959406"/>
          </a:xfrm>
          <a:prstGeom prst="roundRect">
            <a:avLst>
              <a:gd name="adj" fmla="val 3192"/>
            </a:avLst>
          </a:prstGeom>
          <a:solidFill>
            <a:srgbClr val="36393F"/>
          </a:solidFill>
          <a:ln/>
        </p:spPr>
        <p:txBody>
          <a:bodyPr/>
          <a:lstStyle/>
          <a:p>
            <a:endParaRPr lang="it-IT"/>
          </a:p>
        </p:txBody>
      </p:sp>
      <p:sp>
        <p:nvSpPr>
          <p:cNvPr id="11" name="Text 8"/>
          <p:cNvSpPr/>
          <p:nvPr/>
        </p:nvSpPr>
        <p:spPr>
          <a:xfrm>
            <a:off x="1191816" y="4720471"/>
            <a:ext cx="3415427" cy="653415"/>
          </a:xfrm>
          <a:prstGeom prst="rect">
            <a:avLst/>
          </a:prstGeom>
          <a:noFill/>
          <a:ln/>
        </p:spPr>
        <p:txBody>
          <a:bodyPr wrap="square" lIns="0" tIns="0" rIns="0" bIns="0" rtlCol="0" anchor="t"/>
          <a:lstStyle/>
          <a:p>
            <a:pPr marL="0" indent="0" algn="l">
              <a:lnSpc>
                <a:spcPts val="2550"/>
              </a:lnSpc>
              <a:buNone/>
            </a:pPr>
            <a:r>
              <a:rPr lang="en-US" sz="1600" dirty="0">
                <a:solidFill>
                  <a:srgbClr val="D4D4D1"/>
                </a:solidFill>
                <a:highlight>
                  <a:srgbClr val="36393F"/>
                </a:highlight>
                <a:latin typeface="Consolas" pitchFamily="34" charset="0"/>
                <a:ea typeface="Consolas" pitchFamily="34" charset="-122"/>
                <a:cs typeface="Consolas" pitchFamily="34" charset="-120"/>
              </a:rPr>
              <a:t>SS = 100 × E[p_stereo / (p_stereo + p_anti)]</a:t>
            </a:r>
            <a:endParaRPr lang="en-US" sz="1600" dirty="0"/>
          </a:p>
        </p:txBody>
      </p:sp>
      <p:sp>
        <p:nvSpPr>
          <p:cNvPr id="12" name="Text 9"/>
          <p:cNvSpPr/>
          <p:nvPr/>
        </p:nvSpPr>
        <p:spPr>
          <a:xfrm>
            <a:off x="997863" y="5756434"/>
            <a:ext cx="3803333" cy="980123"/>
          </a:xfrm>
          <a:prstGeom prst="rect">
            <a:avLst/>
          </a:prstGeom>
          <a:noFill/>
          <a:ln/>
        </p:spPr>
        <p:txBody>
          <a:bodyPr wrap="square" lIns="0" tIns="0" rIns="0" bIns="0" rtlCol="0" anchor="t"/>
          <a:lstStyle/>
          <a:p>
            <a:pPr marL="0" indent="0" algn="l">
              <a:lnSpc>
                <a:spcPts val="2550"/>
              </a:lnSpc>
              <a:buNone/>
            </a:pPr>
            <a:r>
              <a:rPr lang="en-US" sz="1600" dirty="0">
                <a:solidFill>
                  <a:srgbClr val="D4D4D1"/>
                </a:solidFill>
                <a:latin typeface="Roboto" pitchFamily="34" charset="0"/>
                <a:ea typeface="Roboto" pitchFamily="34" charset="-122"/>
                <a:cs typeface="Roboto" pitchFamily="34" charset="-120"/>
              </a:rPr>
              <a:t>Measures neutrality between stereotypical and anti-stereotypical choices</a:t>
            </a:r>
            <a:endParaRPr lang="en-US" sz="1600" dirty="0"/>
          </a:p>
        </p:txBody>
      </p:sp>
      <p:sp>
        <p:nvSpPr>
          <p:cNvPr id="13" name="Text 10"/>
          <p:cNvSpPr/>
          <p:nvPr/>
        </p:nvSpPr>
        <p:spPr>
          <a:xfrm>
            <a:off x="997863" y="6858953"/>
            <a:ext cx="3803333" cy="326708"/>
          </a:xfrm>
          <a:prstGeom prst="rect">
            <a:avLst/>
          </a:prstGeom>
          <a:noFill/>
          <a:ln/>
        </p:spPr>
        <p:txBody>
          <a:bodyPr wrap="none" lIns="0" tIns="0" rIns="0" bIns="0" rtlCol="0" anchor="t"/>
          <a:lstStyle/>
          <a:p>
            <a:pPr marL="0" indent="0" algn="l">
              <a:lnSpc>
                <a:spcPts val="2550"/>
              </a:lnSpc>
              <a:buNone/>
            </a:pPr>
            <a:r>
              <a:rPr lang="en-US" sz="1600" b="1" dirty="0">
                <a:solidFill>
                  <a:srgbClr val="FFBC8F"/>
                </a:solidFill>
                <a:latin typeface="Roboto" pitchFamily="34" charset="0"/>
                <a:ea typeface="Roboto" pitchFamily="34" charset="-122"/>
                <a:cs typeface="Roboto" pitchFamily="34" charset="-120"/>
              </a:rPr>
              <a:t>Ideal: 50%</a:t>
            </a:r>
            <a:r>
              <a:rPr lang="en-US" sz="1600" dirty="0">
                <a:solidFill>
                  <a:srgbClr val="D4D4D1"/>
                </a:solidFill>
                <a:latin typeface="Roboto" pitchFamily="34" charset="0"/>
                <a:ea typeface="Roboto" pitchFamily="34" charset="-122"/>
                <a:cs typeface="Roboto" pitchFamily="34" charset="-120"/>
              </a:rPr>
              <a:t> (perfect neutrality)</a:t>
            </a:r>
            <a:endParaRPr lang="en-US" sz="1600" dirty="0"/>
          </a:p>
        </p:txBody>
      </p:sp>
      <p:sp>
        <p:nvSpPr>
          <p:cNvPr id="14" name="Shape 11"/>
          <p:cNvSpPr/>
          <p:nvPr/>
        </p:nvSpPr>
        <p:spPr>
          <a:xfrm>
            <a:off x="5209342" y="2998589"/>
            <a:ext cx="4211598" cy="4391144"/>
          </a:xfrm>
          <a:prstGeom prst="roundRect">
            <a:avLst>
              <a:gd name="adj" fmla="val 727"/>
            </a:avLst>
          </a:prstGeom>
          <a:solidFill>
            <a:srgbClr val="484B51"/>
          </a:solidFill>
          <a:ln/>
        </p:spPr>
        <p:txBody>
          <a:bodyPr/>
          <a:lstStyle/>
          <a:p>
            <a:endParaRPr lang="it-IT"/>
          </a:p>
        </p:txBody>
      </p:sp>
      <p:sp>
        <p:nvSpPr>
          <p:cNvPr id="15" name="Shape 12"/>
          <p:cNvSpPr/>
          <p:nvPr/>
        </p:nvSpPr>
        <p:spPr>
          <a:xfrm>
            <a:off x="5413415" y="3202662"/>
            <a:ext cx="612338" cy="612338"/>
          </a:xfrm>
          <a:prstGeom prst="roundRect">
            <a:avLst>
              <a:gd name="adj" fmla="val 14931436"/>
            </a:avLst>
          </a:prstGeom>
          <a:solidFill>
            <a:srgbClr val="FFBC8F"/>
          </a:solidFill>
          <a:ln/>
        </p:spPr>
        <p:txBody>
          <a:bodyPr/>
          <a:lstStyle/>
          <a:p>
            <a:endParaRPr lang="it-IT"/>
          </a:p>
        </p:txBody>
      </p:sp>
      <p:pic>
        <p:nvPicPr>
          <p:cNvPr id="16"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581769" y="3371017"/>
            <a:ext cx="275511" cy="275511"/>
          </a:xfrm>
          <a:prstGeom prst="rect">
            <a:avLst/>
          </a:prstGeom>
        </p:spPr>
      </p:pic>
      <p:sp>
        <p:nvSpPr>
          <p:cNvPr id="17" name="Text 13"/>
          <p:cNvSpPr/>
          <p:nvPr/>
        </p:nvSpPr>
        <p:spPr>
          <a:xfrm>
            <a:off x="5413415" y="4019074"/>
            <a:ext cx="3695224" cy="318849"/>
          </a:xfrm>
          <a:prstGeom prst="rect">
            <a:avLst/>
          </a:prstGeom>
          <a:noFill/>
          <a:ln/>
        </p:spPr>
        <p:txBody>
          <a:bodyPr wrap="none" lIns="0" tIns="0" rIns="0" bIns="0" rtlCol="0" anchor="t"/>
          <a:lstStyle/>
          <a:p>
            <a:pPr marL="0" indent="0" algn="l">
              <a:lnSpc>
                <a:spcPts val="2500"/>
              </a:lnSpc>
              <a:buNone/>
            </a:pPr>
            <a:r>
              <a:rPr lang="en-US" sz="2000" dirty="0">
                <a:solidFill>
                  <a:srgbClr val="D4D4D1"/>
                </a:solidFill>
                <a:latin typeface="IBM Plex Sans Medium" pitchFamily="34" charset="0"/>
                <a:ea typeface="IBM Plex Sans Medium" pitchFamily="34" charset="-122"/>
                <a:cs typeface="IBM Plex Sans Medium" pitchFamily="34" charset="-120"/>
              </a:rPr>
              <a:t>Language Modeling Score (LMS)</a:t>
            </a:r>
            <a:endParaRPr lang="en-US" sz="2000" dirty="0"/>
          </a:p>
        </p:txBody>
      </p:sp>
      <p:sp>
        <p:nvSpPr>
          <p:cNvPr id="18" name="Shape 14"/>
          <p:cNvSpPr/>
          <p:nvPr/>
        </p:nvSpPr>
        <p:spPr>
          <a:xfrm>
            <a:off x="5413415" y="4567476"/>
            <a:ext cx="3803452" cy="959406"/>
          </a:xfrm>
          <a:prstGeom prst="roundRect">
            <a:avLst>
              <a:gd name="adj" fmla="val 3192"/>
            </a:avLst>
          </a:prstGeom>
          <a:solidFill>
            <a:srgbClr val="36393F"/>
          </a:solidFill>
          <a:ln/>
        </p:spPr>
        <p:txBody>
          <a:bodyPr/>
          <a:lstStyle/>
          <a:p>
            <a:endParaRPr lang="it-IT"/>
          </a:p>
        </p:txBody>
      </p:sp>
      <p:sp>
        <p:nvSpPr>
          <p:cNvPr id="19" name="Shape 15"/>
          <p:cNvSpPr/>
          <p:nvPr/>
        </p:nvSpPr>
        <p:spPr>
          <a:xfrm>
            <a:off x="5403294" y="4567476"/>
            <a:ext cx="3823692" cy="959406"/>
          </a:xfrm>
          <a:prstGeom prst="roundRect">
            <a:avLst>
              <a:gd name="adj" fmla="val 3192"/>
            </a:avLst>
          </a:prstGeom>
          <a:solidFill>
            <a:srgbClr val="36393F"/>
          </a:solidFill>
          <a:ln/>
        </p:spPr>
        <p:txBody>
          <a:bodyPr/>
          <a:lstStyle/>
          <a:p>
            <a:endParaRPr lang="it-IT"/>
          </a:p>
        </p:txBody>
      </p:sp>
      <p:sp>
        <p:nvSpPr>
          <p:cNvPr id="20" name="Text 16"/>
          <p:cNvSpPr/>
          <p:nvPr/>
        </p:nvSpPr>
        <p:spPr>
          <a:xfrm>
            <a:off x="5607368" y="4720471"/>
            <a:ext cx="3415546" cy="653415"/>
          </a:xfrm>
          <a:prstGeom prst="rect">
            <a:avLst/>
          </a:prstGeom>
          <a:noFill/>
          <a:ln/>
        </p:spPr>
        <p:txBody>
          <a:bodyPr wrap="square" lIns="0" tIns="0" rIns="0" bIns="0" rtlCol="0" anchor="t"/>
          <a:lstStyle/>
          <a:p>
            <a:pPr marL="0" indent="0" algn="l">
              <a:lnSpc>
                <a:spcPts val="2550"/>
              </a:lnSpc>
              <a:buNone/>
            </a:pPr>
            <a:r>
              <a:rPr lang="en-US" sz="1600" dirty="0">
                <a:solidFill>
                  <a:srgbClr val="D4D4D1"/>
                </a:solidFill>
                <a:highlight>
                  <a:srgbClr val="36393F"/>
                </a:highlight>
                <a:latin typeface="Consolas" pitchFamily="34" charset="0"/>
                <a:ea typeface="Consolas" pitchFamily="34" charset="-122"/>
                <a:cs typeface="Consolas" pitchFamily="34" charset="-120"/>
              </a:rPr>
              <a:t>LMS = 100 × E[p_stereo + p_anti]</a:t>
            </a:r>
            <a:endParaRPr lang="en-US" sz="1600" dirty="0"/>
          </a:p>
        </p:txBody>
      </p:sp>
      <p:sp>
        <p:nvSpPr>
          <p:cNvPr id="21" name="Text 17"/>
          <p:cNvSpPr/>
          <p:nvPr/>
        </p:nvSpPr>
        <p:spPr>
          <a:xfrm>
            <a:off x="5413415" y="5756434"/>
            <a:ext cx="3803452" cy="653415"/>
          </a:xfrm>
          <a:prstGeom prst="rect">
            <a:avLst/>
          </a:prstGeom>
          <a:noFill/>
          <a:ln/>
        </p:spPr>
        <p:txBody>
          <a:bodyPr wrap="square" lIns="0" tIns="0" rIns="0" bIns="0" rtlCol="0" anchor="t"/>
          <a:lstStyle/>
          <a:p>
            <a:pPr marL="0" indent="0" algn="l">
              <a:lnSpc>
                <a:spcPts val="2550"/>
              </a:lnSpc>
              <a:buNone/>
            </a:pPr>
            <a:r>
              <a:rPr lang="en-US" sz="1600" dirty="0">
                <a:solidFill>
                  <a:srgbClr val="D4D4D1"/>
                </a:solidFill>
                <a:latin typeface="Roboto" pitchFamily="34" charset="0"/>
                <a:ea typeface="Roboto" pitchFamily="34" charset="-122"/>
                <a:cs typeface="Roboto" pitchFamily="34" charset="-120"/>
              </a:rPr>
              <a:t>Measures ability to distinguish meaningful from unrelated completions</a:t>
            </a:r>
            <a:endParaRPr lang="en-US" sz="1600" dirty="0"/>
          </a:p>
        </p:txBody>
      </p:sp>
      <p:sp>
        <p:nvSpPr>
          <p:cNvPr id="22" name="Text 18"/>
          <p:cNvSpPr/>
          <p:nvPr/>
        </p:nvSpPr>
        <p:spPr>
          <a:xfrm>
            <a:off x="5413415" y="6532245"/>
            <a:ext cx="3803452" cy="653415"/>
          </a:xfrm>
          <a:prstGeom prst="rect">
            <a:avLst/>
          </a:prstGeom>
          <a:noFill/>
          <a:ln/>
        </p:spPr>
        <p:txBody>
          <a:bodyPr wrap="square" lIns="0" tIns="0" rIns="0" bIns="0" rtlCol="0" anchor="t"/>
          <a:lstStyle/>
          <a:p>
            <a:pPr marL="0" indent="0" algn="l">
              <a:lnSpc>
                <a:spcPts val="2550"/>
              </a:lnSpc>
              <a:buNone/>
            </a:pPr>
            <a:r>
              <a:rPr lang="en-US" sz="1600" b="1" dirty="0">
                <a:solidFill>
                  <a:srgbClr val="D4D4D1"/>
                </a:solidFill>
                <a:latin typeface="Roboto" pitchFamily="34" charset="0"/>
                <a:ea typeface="Roboto" pitchFamily="34" charset="-122"/>
                <a:cs typeface="Roboto" pitchFamily="34" charset="-120"/>
              </a:rPr>
              <a:t>Target:</a:t>
            </a:r>
            <a:r>
              <a:rPr lang="en-US" sz="1600" dirty="0">
                <a:solidFill>
                  <a:srgbClr val="D4D4D1"/>
                </a:solidFill>
                <a:latin typeface="Roboto" pitchFamily="34" charset="0"/>
                <a:ea typeface="Roboto" pitchFamily="34" charset="-122"/>
                <a:cs typeface="Roboto" pitchFamily="34" charset="-120"/>
              </a:rPr>
              <a:t> Higher is better (indicates stronger language understanding)</a:t>
            </a:r>
            <a:endParaRPr lang="en-US" sz="1600" dirty="0"/>
          </a:p>
        </p:txBody>
      </p:sp>
      <p:sp>
        <p:nvSpPr>
          <p:cNvPr id="23" name="Shape 19"/>
          <p:cNvSpPr/>
          <p:nvPr/>
        </p:nvSpPr>
        <p:spPr>
          <a:xfrm>
            <a:off x="9625013" y="2998589"/>
            <a:ext cx="4211598" cy="4391144"/>
          </a:xfrm>
          <a:prstGeom prst="roundRect">
            <a:avLst>
              <a:gd name="adj" fmla="val 727"/>
            </a:avLst>
          </a:prstGeom>
          <a:solidFill>
            <a:srgbClr val="484B51"/>
          </a:solidFill>
          <a:ln/>
        </p:spPr>
        <p:txBody>
          <a:bodyPr/>
          <a:lstStyle/>
          <a:p>
            <a:endParaRPr lang="it-IT"/>
          </a:p>
        </p:txBody>
      </p:sp>
      <p:sp>
        <p:nvSpPr>
          <p:cNvPr id="24" name="Shape 20"/>
          <p:cNvSpPr/>
          <p:nvPr/>
        </p:nvSpPr>
        <p:spPr>
          <a:xfrm>
            <a:off x="9829086" y="3202662"/>
            <a:ext cx="612338" cy="612338"/>
          </a:xfrm>
          <a:prstGeom prst="roundRect">
            <a:avLst>
              <a:gd name="adj" fmla="val 14931436"/>
            </a:avLst>
          </a:prstGeom>
          <a:solidFill>
            <a:srgbClr val="FFBC8F"/>
          </a:solidFill>
          <a:ln/>
        </p:spPr>
        <p:txBody>
          <a:bodyPr/>
          <a:lstStyle/>
          <a:p>
            <a:endParaRPr lang="it-IT"/>
          </a:p>
        </p:txBody>
      </p:sp>
      <p:pic>
        <p:nvPicPr>
          <p:cNvPr id="25"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997440" y="3371017"/>
            <a:ext cx="275511" cy="275511"/>
          </a:xfrm>
          <a:prstGeom prst="rect">
            <a:avLst/>
          </a:prstGeom>
        </p:spPr>
      </p:pic>
      <p:sp>
        <p:nvSpPr>
          <p:cNvPr id="26" name="Text 21"/>
          <p:cNvSpPr/>
          <p:nvPr/>
        </p:nvSpPr>
        <p:spPr>
          <a:xfrm>
            <a:off x="9829086" y="4019074"/>
            <a:ext cx="2551748" cy="318849"/>
          </a:xfrm>
          <a:prstGeom prst="rect">
            <a:avLst/>
          </a:prstGeom>
          <a:noFill/>
          <a:ln/>
        </p:spPr>
        <p:txBody>
          <a:bodyPr wrap="none" lIns="0" tIns="0" rIns="0" bIns="0" rtlCol="0" anchor="t"/>
          <a:lstStyle/>
          <a:p>
            <a:pPr marL="0" indent="0" algn="l">
              <a:lnSpc>
                <a:spcPts val="2500"/>
              </a:lnSpc>
              <a:buNone/>
            </a:pPr>
            <a:r>
              <a:rPr lang="en-US" sz="2000" dirty="0">
                <a:solidFill>
                  <a:srgbClr val="D4D4D1"/>
                </a:solidFill>
                <a:latin typeface="IBM Plex Sans Medium" pitchFamily="34" charset="0"/>
                <a:ea typeface="IBM Plex Sans Medium" pitchFamily="34" charset="-122"/>
                <a:cs typeface="IBM Plex Sans Medium" pitchFamily="34" charset="-120"/>
              </a:rPr>
              <a:t>ICAT Score</a:t>
            </a:r>
            <a:endParaRPr lang="en-US" sz="2000" dirty="0"/>
          </a:p>
        </p:txBody>
      </p:sp>
      <p:sp>
        <p:nvSpPr>
          <p:cNvPr id="27" name="Shape 22"/>
          <p:cNvSpPr/>
          <p:nvPr/>
        </p:nvSpPr>
        <p:spPr>
          <a:xfrm>
            <a:off x="9829086" y="4567476"/>
            <a:ext cx="3803452" cy="959406"/>
          </a:xfrm>
          <a:prstGeom prst="roundRect">
            <a:avLst>
              <a:gd name="adj" fmla="val 3192"/>
            </a:avLst>
          </a:prstGeom>
          <a:solidFill>
            <a:srgbClr val="36393F"/>
          </a:solidFill>
          <a:ln/>
        </p:spPr>
        <p:txBody>
          <a:bodyPr/>
          <a:lstStyle/>
          <a:p>
            <a:endParaRPr lang="it-IT"/>
          </a:p>
        </p:txBody>
      </p:sp>
      <p:sp>
        <p:nvSpPr>
          <p:cNvPr id="28" name="Shape 23"/>
          <p:cNvSpPr/>
          <p:nvPr/>
        </p:nvSpPr>
        <p:spPr>
          <a:xfrm>
            <a:off x="9818965" y="4567476"/>
            <a:ext cx="3823692" cy="959406"/>
          </a:xfrm>
          <a:prstGeom prst="roundRect">
            <a:avLst>
              <a:gd name="adj" fmla="val 3192"/>
            </a:avLst>
          </a:prstGeom>
          <a:solidFill>
            <a:srgbClr val="36393F"/>
          </a:solidFill>
          <a:ln/>
        </p:spPr>
        <p:txBody>
          <a:bodyPr/>
          <a:lstStyle/>
          <a:p>
            <a:endParaRPr lang="it-IT"/>
          </a:p>
        </p:txBody>
      </p:sp>
      <p:sp>
        <p:nvSpPr>
          <p:cNvPr id="29" name="Text 24"/>
          <p:cNvSpPr/>
          <p:nvPr/>
        </p:nvSpPr>
        <p:spPr>
          <a:xfrm>
            <a:off x="10023038" y="4720471"/>
            <a:ext cx="3415546" cy="653415"/>
          </a:xfrm>
          <a:prstGeom prst="rect">
            <a:avLst/>
          </a:prstGeom>
          <a:noFill/>
          <a:ln/>
        </p:spPr>
        <p:txBody>
          <a:bodyPr wrap="square" lIns="0" tIns="0" rIns="0" bIns="0" rtlCol="0" anchor="t"/>
          <a:lstStyle/>
          <a:p>
            <a:pPr marL="0" indent="0" algn="l">
              <a:lnSpc>
                <a:spcPts val="2550"/>
              </a:lnSpc>
              <a:buNone/>
            </a:pPr>
            <a:r>
              <a:rPr lang="en-US" sz="1600" dirty="0">
                <a:solidFill>
                  <a:srgbClr val="D4D4D1"/>
                </a:solidFill>
                <a:highlight>
                  <a:srgbClr val="36393F"/>
                </a:highlight>
                <a:latin typeface="Consolas" pitchFamily="34" charset="0"/>
                <a:ea typeface="Consolas" pitchFamily="34" charset="-122"/>
                <a:cs typeface="Consolas" pitchFamily="34" charset="-120"/>
              </a:rPr>
              <a:t>ICAT = LMS × (1 - |SS - 0.5|/0.5) × 100</a:t>
            </a:r>
            <a:endParaRPr lang="en-US" sz="1600" dirty="0"/>
          </a:p>
        </p:txBody>
      </p:sp>
      <p:sp>
        <p:nvSpPr>
          <p:cNvPr id="30" name="Text 25"/>
          <p:cNvSpPr/>
          <p:nvPr/>
        </p:nvSpPr>
        <p:spPr>
          <a:xfrm>
            <a:off x="9829086" y="5756434"/>
            <a:ext cx="3803452" cy="653415"/>
          </a:xfrm>
          <a:prstGeom prst="rect">
            <a:avLst/>
          </a:prstGeom>
          <a:noFill/>
          <a:ln/>
        </p:spPr>
        <p:txBody>
          <a:bodyPr wrap="square" lIns="0" tIns="0" rIns="0" bIns="0" rtlCol="0" anchor="t"/>
          <a:lstStyle/>
          <a:p>
            <a:pPr marL="0" indent="0" algn="l">
              <a:lnSpc>
                <a:spcPts val="2550"/>
              </a:lnSpc>
              <a:buNone/>
            </a:pPr>
            <a:r>
              <a:rPr lang="en-US" sz="1600" dirty="0">
                <a:solidFill>
                  <a:srgbClr val="D4D4D1"/>
                </a:solidFill>
                <a:latin typeface="Roboto" pitchFamily="34" charset="0"/>
                <a:ea typeface="Roboto" pitchFamily="34" charset="-122"/>
                <a:cs typeface="Roboto" pitchFamily="34" charset="-120"/>
              </a:rPr>
              <a:t>Combines fairness (SS) and language capability (LMS) into a unified metric</a:t>
            </a:r>
            <a:endParaRPr lang="en-US" sz="1600" dirty="0"/>
          </a:p>
        </p:txBody>
      </p:sp>
      <p:sp>
        <p:nvSpPr>
          <p:cNvPr id="31" name="Text 26"/>
          <p:cNvSpPr/>
          <p:nvPr/>
        </p:nvSpPr>
        <p:spPr>
          <a:xfrm>
            <a:off x="9829086" y="6532245"/>
            <a:ext cx="3803452" cy="653415"/>
          </a:xfrm>
          <a:prstGeom prst="rect">
            <a:avLst/>
          </a:prstGeom>
          <a:noFill/>
          <a:ln/>
        </p:spPr>
        <p:txBody>
          <a:bodyPr wrap="square" lIns="0" tIns="0" rIns="0" bIns="0" rtlCol="0" anchor="t"/>
          <a:lstStyle/>
          <a:p>
            <a:pPr marL="0" indent="0" algn="l">
              <a:lnSpc>
                <a:spcPts val="2550"/>
              </a:lnSpc>
              <a:buNone/>
            </a:pPr>
            <a:r>
              <a:rPr lang="en-US" sz="1600" b="1" dirty="0">
                <a:solidFill>
                  <a:srgbClr val="D4D4D1"/>
                </a:solidFill>
                <a:latin typeface="Roboto" pitchFamily="34" charset="0"/>
                <a:ea typeface="Roboto" pitchFamily="34" charset="-122"/>
                <a:cs typeface="Roboto" pitchFamily="34" charset="-120"/>
              </a:rPr>
              <a:t>Purpose:</a:t>
            </a:r>
            <a:r>
              <a:rPr lang="en-US" sz="1600" dirty="0">
                <a:solidFill>
                  <a:srgbClr val="D4D4D1"/>
                </a:solidFill>
                <a:latin typeface="Roboto" pitchFamily="34" charset="0"/>
                <a:ea typeface="Roboto" pitchFamily="34" charset="-122"/>
                <a:cs typeface="Roboto" pitchFamily="34" charset="-120"/>
              </a:rPr>
              <a:t> Balances both fairness and performance objectives</a:t>
            </a:r>
            <a:endParaRPr lang="en-US" sz="1600" dirty="0"/>
          </a:p>
        </p:txBody>
      </p:sp>
      <p:sp>
        <p:nvSpPr>
          <p:cNvPr id="32" name="Rettangolo 31">
            <a:extLst>
              <a:ext uri="{FF2B5EF4-FFF2-40B4-BE49-F238E27FC236}">
                <a16:creationId xmlns:a16="http://schemas.microsoft.com/office/drawing/2014/main" id="{8E8212EF-C516-609C-0ABA-1C22733C916E}"/>
              </a:ext>
            </a:extLst>
          </p:cNvPr>
          <p:cNvSpPr/>
          <p:nvPr/>
        </p:nvSpPr>
        <p:spPr>
          <a:xfrm>
            <a:off x="11822805" y="7437549"/>
            <a:ext cx="2717443" cy="663262"/>
          </a:xfrm>
          <a:prstGeom prst="rect">
            <a:avLst/>
          </a:prstGeom>
          <a:solidFill>
            <a:srgbClr val="292C3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93790" y="1109186"/>
            <a:ext cx="8346519" cy="708779"/>
          </a:xfrm>
          <a:prstGeom prst="rect">
            <a:avLst/>
          </a:prstGeom>
          <a:noFill/>
          <a:ln/>
        </p:spPr>
        <p:txBody>
          <a:bodyPr wrap="none" lIns="0" tIns="0" rIns="0" bIns="0" rtlCol="0" anchor="t"/>
          <a:lstStyle/>
          <a:p>
            <a:pPr marL="0" indent="0" algn="l">
              <a:lnSpc>
                <a:spcPts val="5550"/>
              </a:lnSpc>
              <a:buNone/>
            </a:pPr>
            <a:r>
              <a:rPr lang="en-US" sz="4450" dirty="0">
                <a:solidFill>
                  <a:srgbClr val="F3F3F2"/>
                </a:solidFill>
                <a:latin typeface="IBM Plex Sans Medium" pitchFamily="34" charset="0"/>
                <a:ea typeface="IBM Plex Sans Medium" pitchFamily="34" charset="-122"/>
                <a:cs typeface="IBM Plex Sans Medium" pitchFamily="34" charset="-120"/>
              </a:rPr>
              <a:t>Results: Minimal Impact on Bias</a:t>
            </a:r>
            <a:endParaRPr lang="en-US" sz="4450" dirty="0"/>
          </a:p>
        </p:txBody>
      </p:sp>
      <p:sp>
        <p:nvSpPr>
          <p:cNvPr id="3" name="Shape 1"/>
          <p:cNvSpPr/>
          <p:nvPr/>
        </p:nvSpPr>
        <p:spPr>
          <a:xfrm>
            <a:off x="793790" y="2271593"/>
            <a:ext cx="13042821" cy="3266837"/>
          </a:xfrm>
          <a:prstGeom prst="roundRect">
            <a:avLst>
              <a:gd name="adj" fmla="val 1042"/>
            </a:avLst>
          </a:prstGeom>
          <a:noFill/>
          <a:ln w="7620">
            <a:solidFill>
              <a:srgbClr val="FFFFFF">
                <a:alpha val="24000"/>
              </a:srgbClr>
            </a:solidFill>
            <a:prstDash val="solid"/>
          </a:ln>
        </p:spPr>
        <p:txBody>
          <a:bodyPr/>
          <a:lstStyle/>
          <a:p>
            <a:endParaRPr lang="it-IT"/>
          </a:p>
        </p:txBody>
      </p:sp>
      <p:sp>
        <p:nvSpPr>
          <p:cNvPr id="4" name="Shape 2"/>
          <p:cNvSpPr/>
          <p:nvPr/>
        </p:nvSpPr>
        <p:spPr>
          <a:xfrm>
            <a:off x="801410" y="2279213"/>
            <a:ext cx="13027581" cy="650319"/>
          </a:xfrm>
          <a:prstGeom prst="rect">
            <a:avLst/>
          </a:prstGeom>
          <a:solidFill>
            <a:srgbClr val="FFFFFF">
              <a:alpha val="4000"/>
            </a:srgbClr>
          </a:solidFill>
          <a:ln/>
        </p:spPr>
        <p:txBody>
          <a:bodyPr/>
          <a:lstStyle/>
          <a:p>
            <a:endParaRPr lang="it-IT"/>
          </a:p>
        </p:txBody>
      </p:sp>
      <p:sp>
        <p:nvSpPr>
          <p:cNvPr id="5" name="Text 3"/>
          <p:cNvSpPr/>
          <p:nvPr/>
        </p:nvSpPr>
        <p:spPr>
          <a:xfrm>
            <a:off x="1028462" y="2422922"/>
            <a:ext cx="3450788" cy="362903"/>
          </a:xfrm>
          <a:prstGeom prst="rect">
            <a:avLst/>
          </a:prstGeom>
          <a:noFill/>
          <a:ln/>
        </p:spPr>
        <p:txBody>
          <a:bodyPr wrap="none" lIns="0" tIns="0" rIns="0" bIns="0" rtlCol="0" anchor="t"/>
          <a:lstStyle/>
          <a:p>
            <a:pPr marL="0" indent="0" algn="l">
              <a:lnSpc>
                <a:spcPts val="2850"/>
              </a:lnSpc>
              <a:buNone/>
            </a:pPr>
            <a:r>
              <a:rPr lang="en-US" sz="1750" b="1" dirty="0">
                <a:solidFill>
                  <a:srgbClr val="D4D4D1"/>
                </a:solidFill>
                <a:latin typeface="Roboto" pitchFamily="34" charset="0"/>
                <a:ea typeface="Roboto" pitchFamily="34" charset="-122"/>
                <a:cs typeface="Roboto" pitchFamily="34" charset="-120"/>
              </a:rPr>
              <a:t>Metric</a:t>
            </a:r>
            <a:endParaRPr lang="en-US" sz="1750" dirty="0"/>
          </a:p>
        </p:txBody>
      </p:sp>
      <p:sp>
        <p:nvSpPr>
          <p:cNvPr id="6" name="Text 4"/>
          <p:cNvSpPr/>
          <p:nvPr/>
        </p:nvSpPr>
        <p:spPr>
          <a:xfrm>
            <a:off x="4940498" y="2422922"/>
            <a:ext cx="2144197" cy="362903"/>
          </a:xfrm>
          <a:prstGeom prst="rect">
            <a:avLst/>
          </a:prstGeom>
          <a:noFill/>
          <a:ln/>
        </p:spPr>
        <p:txBody>
          <a:bodyPr wrap="none" lIns="0" tIns="0" rIns="0" bIns="0" rtlCol="0" anchor="t"/>
          <a:lstStyle/>
          <a:p>
            <a:pPr marL="0" indent="0" algn="l">
              <a:lnSpc>
                <a:spcPts val="2850"/>
              </a:lnSpc>
              <a:buNone/>
            </a:pPr>
            <a:r>
              <a:rPr lang="en-US" sz="1750" b="1" dirty="0">
                <a:solidFill>
                  <a:srgbClr val="D4D4D1"/>
                </a:solidFill>
                <a:latin typeface="Roboto" pitchFamily="34" charset="0"/>
                <a:ea typeface="Roboto" pitchFamily="34" charset="-122"/>
                <a:cs typeface="Roboto" pitchFamily="34" charset="-120"/>
              </a:rPr>
              <a:t>Baseline</a:t>
            </a:r>
            <a:endParaRPr lang="en-US" sz="1750" dirty="0"/>
          </a:p>
        </p:txBody>
      </p:sp>
      <p:sp>
        <p:nvSpPr>
          <p:cNvPr id="7" name="Text 5"/>
          <p:cNvSpPr/>
          <p:nvPr/>
        </p:nvSpPr>
        <p:spPr>
          <a:xfrm>
            <a:off x="7545943" y="2422922"/>
            <a:ext cx="2144197" cy="362903"/>
          </a:xfrm>
          <a:prstGeom prst="rect">
            <a:avLst/>
          </a:prstGeom>
          <a:noFill/>
          <a:ln/>
        </p:spPr>
        <p:txBody>
          <a:bodyPr wrap="none" lIns="0" tIns="0" rIns="0" bIns="0" rtlCol="0" anchor="t"/>
          <a:lstStyle/>
          <a:p>
            <a:pPr marL="0" indent="0" algn="l">
              <a:lnSpc>
                <a:spcPts val="2850"/>
              </a:lnSpc>
              <a:buNone/>
            </a:pPr>
            <a:r>
              <a:rPr lang="en-US" sz="1750" b="1" dirty="0">
                <a:solidFill>
                  <a:srgbClr val="D4D4D1"/>
                </a:solidFill>
                <a:latin typeface="Roboto" pitchFamily="34" charset="0"/>
                <a:ea typeface="Roboto" pitchFamily="34" charset="-122"/>
                <a:cs typeface="Roboto" pitchFamily="34" charset="-120"/>
              </a:rPr>
              <a:t>Fine-tuned</a:t>
            </a:r>
            <a:endParaRPr lang="en-US" sz="1750" dirty="0"/>
          </a:p>
        </p:txBody>
      </p:sp>
      <p:sp>
        <p:nvSpPr>
          <p:cNvPr id="8" name="Text 6"/>
          <p:cNvSpPr/>
          <p:nvPr/>
        </p:nvSpPr>
        <p:spPr>
          <a:xfrm>
            <a:off x="10151388" y="2422922"/>
            <a:ext cx="3450788" cy="362903"/>
          </a:xfrm>
          <a:prstGeom prst="rect">
            <a:avLst/>
          </a:prstGeom>
          <a:noFill/>
          <a:ln/>
        </p:spPr>
        <p:txBody>
          <a:bodyPr wrap="none" lIns="0" tIns="0" rIns="0" bIns="0" rtlCol="0" anchor="t"/>
          <a:lstStyle/>
          <a:p>
            <a:pPr marL="0" indent="0" algn="l">
              <a:lnSpc>
                <a:spcPts val="2850"/>
              </a:lnSpc>
              <a:buNone/>
            </a:pPr>
            <a:r>
              <a:rPr lang="en-US" sz="1750" b="1" dirty="0">
                <a:solidFill>
                  <a:srgbClr val="D4D4D1"/>
                </a:solidFill>
                <a:latin typeface="Roboto" pitchFamily="34" charset="0"/>
                <a:ea typeface="Roboto" pitchFamily="34" charset="-122"/>
                <a:cs typeface="Roboto" pitchFamily="34" charset="-120"/>
              </a:rPr>
              <a:t>Change</a:t>
            </a:r>
            <a:endParaRPr lang="en-US" sz="1750" dirty="0"/>
          </a:p>
        </p:txBody>
      </p:sp>
      <p:sp>
        <p:nvSpPr>
          <p:cNvPr id="9" name="Shape 7"/>
          <p:cNvSpPr/>
          <p:nvPr/>
        </p:nvSpPr>
        <p:spPr>
          <a:xfrm>
            <a:off x="801410" y="2929533"/>
            <a:ext cx="13027581" cy="650319"/>
          </a:xfrm>
          <a:prstGeom prst="rect">
            <a:avLst/>
          </a:prstGeom>
          <a:solidFill>
            <a:srgbClr val="000000">
              <a:alpha val="4000"/>
            </a:srgbClr>
          </a:solidFill>
          <a:ln/>
        </p:spPr>
        <p:txBody>
          <a:bodyPr/>
          <a:lstStyle/>
          <a:p>
            <a:endParaRPr lang="it-IT"/>
          </a:p>
        </p:txBody>
      </p:sp>
      <p:sp>
        <p:nvSpPr>
          <p:cNvPr id="10" name="Text 8"/>
          <p:cNvSpPr/>
          <p:nvPr/>
        </p:nvSpPr>
        <p:spPr>
          <a:xfrm>
            <a:off x="1028462" y="3073241"/>
            <a:ext cx="3450788" cy="362903"/>
          </a:xfrm>
          <a:prstGeom prst="rect">
            <a:avLst/>
          </a:prstGeom>
          <a:noFill/>
          <a:ln/>
        </p:spPr>
        <p:txBody>
          <a:bodyPr wrap="none" lIns="0" tIns="0" rIns="0" bIns="0" rtlCol="0" anchor="t"/>
          <a:lstStyle/>
          <a:p>
            <a:pPr marL="0" indent="0" algn="l">
              <a:lnSpc>
                <a:spcPts val="2850"/>
              </a:lnSpc>
              <a:buNone/>
            </a:pPr>
            <a:r>
              <a:rPr lang="en-US" sz="1750" dirty="0">
                <a:solidFill>
                  <a:srgbClr val="D4D4D1"/>
                </a:solidFill>
                <a:latin typeface="Roboto" pitchFamily="34" charset="0"/>
                <a:ea typeface="Roboto" pitchFamily="34" charset="-122"/>
                <a:cs typeface="Roboto" pitchFamily="34" charset="-120"/>
              </a:rPr>
              <a:t>Stereotype Score (SS %)</a:t>
            </a:r>
            <a:endParaRPr lang="en-US" sz="1750" dirty="0"/>
          </a:p>
        </p:txBody>
      </p:sp>
      <p:sp>
        <p:nvSpPr>
          <p:cNvPr id="11" name="Text 9"/>
          <p:cNvSpPr/>
          <p:nvPr/>
        </p:nvSpPr>
        <p:spPr>
          <a:xfrm>
            <a:off x="4940498" y="3073241"/>
            <a:ext cx="2144197" cy="362903"/>
          </a:xfrm>
          <a:prstGeom prst="rect">
            <a:avLst/>
          </a:prstGeom>
          <a:noFill/>
          <a:ln/>
        </p:spPr>
        <p:txBody>
          <a:bodyPr wrap="none" lIns="0" tIns="0" rIns="0" bIns="0" rtlCol="0" anchor="t"/>
          <a:lstStyle/>
          <a:p>
            <a:pPr marL="0" indent="0" algn="l">
              <a:lnSpc>
                <a:spcPts val="2850"/>
              </a:lnSpc>
              <a:buNone/>
            </a:pPr>
            <a:r>
              <a:rPr lang="en-US" sz="1750" dirty="0">
                <a:solidFill>
                  <a:srgbClr val="D4D4D1"/>
                </a:solidFill>
                <a:latin typeface="Roboto" pitchFamily="34" charset="0"/>
                <a:ea typeface="Roboto" pitchFamily="34" charset="-122"/>
                <a:cs typeface="Roboto" pitchFamily="34" charset="-120"/>
              </a:rPr>
              <a:t>51.06</a:t>
            </a:r>
            <a:endParaRPr lang="en-US" sz="1750" dirty="0"/>
          </a:p>
        </p:txBody>
      </p:sp>
      <p:sp>
        <p:nvSpPr>
          <p:cNvPr id="12" name="Text 10"/>
          <p:cNvSpPr/>
          <p:nvPr/>
        </p:nvSpPr>
        <p:spPr>
          <a:xfrm>
            <a:off x="7545943" y="3073241"/>
            <a:ext cx="2144197" cy="362903"/>
          </a:xfrm>
          <a:prstGeom prst="rect">
            <a:avLst/>
          </a:prstGeom>
          <a:noFill/>
          <a:ln/>
        </p:spPr>
        <p:txBody>
          <a:bodyPr wrap="none" lIns="0" tIns="0" rIns="0" bIns="0" rtlCol="0" anchor="t"/>
          <a:lstStyle/>
          <a:p>
            <a:pPr marL="0" indent="0" algn="l">
              <a:lnSpc>
                <a:spcPts val="2850"/>
              </a:lnSpc>
              <a:buNone/>
            </a:pPr>
            <a:r>
              <a:rPr lang="en-US" sz="1750" dirty="0">
                <a:solidFill>
                  <a:srgbClr val="D4D4D1"/>
                </a:solidFill>
                <a:latin typeface="Roboto" pitchFamily="34" charset="0"/>
                <a:ea typeface="Roboto" pitchFamily="34" charset="-122"/>
                <a:cs typeface="Roboto" pitchFamily="34" charset="-120"/>
              </a:rPr>
              <a:t>51.55</a:t>
            </a:r>
            <a:endParaRPr lang="en-US" sz="1750" dirty="0"/>
          </a:p>
        </p:txBody>
      </p:sp>
      <p:sp>
        <p:nvSpPr>
          <p:cNvPr id="13" name="Text 11"/>
          <p:cNvSpPr/>
          <p:nvPr/>
        </p:nvSpPr>
        <p:spPr>
          <a:xfrm>
            <a:off x="10151388" y="3073241"/>
            <a:ext cx="3450788" cy="362903"/>
          </a:xfrm>
          <a:prstGeom prst="rect">
            <a:avLst/>
          </a:prstGeom>
          <a:noFill/>
          <a:ln/>
        </p:spPr>
        <p:txBody>
          <a:bodyPr wrap="none" lIns="0" tIns="0" rIns="0" bIns="0" rtlCol="0" anchor="t"/>
          <a:lstStyle/>
          <a:p>
            <a:pPr marL="0" indent="0" algn="l">
              <a:lnSpc>
                <a:spcPts val="2850"/>
              </a:lnSpc>
              <a:buNone/>
            </a:pPr>
            <a:r>
              <a:rPr lang="en-US" sz="1750" dirty="0">
                <a:solidFill>
                  <a:srgbClr val="F44444"/>
                </a:solidFill>
                <a:latin typeface="Roboto" pitchFamily="34" charset="0"/>
                <a:ea typeface="Roboto" pitchFamily="34" charset="-122"/>
                <a:cs typeface="Roboto" pitchFamily="34" charset="-120"/>
              </a:rPr>
              <a:t>+0.49</a:t>
            </a:r>
            <a:r>
              <a:rPr lang="en-US" sz="1750" dirty="0">
                <a:solidFill>
                  <a:srgbClr val="D4D4D1"/>
                </a:solidFill>
                <a:latin typeface="Roboto" pitchFamily="34" charset="0"/>
                <a:ea typeface="Roboto" pitchFamily="34" charset="-122"/>
                <a:cs typeface="Roboto" pitchFamily="34" charset="-120"/>
              </a:rPr>
              <a:t> </a:t>
            </a:r>
            <a:r>
              <a:rPr lang="en-US" sz="1750" dirty="0">
                <a:solidFill>
                  <a:srgbClr val="000000"/>
                </a:solidFill>
                <a:latin typeface="Roboto" pitchFamily="34" charset="0"/>
                <a:ea typeface="Roboto" pitchFamily="34" charset="-122"/>
                <a:cs typeface="Roboto" pitchFamily="34" charset="-120"/>
              </a:rPr>
              <a:t>↗</a:t>
            </a:r>
            <a:endParaRPr lang="en-US" sz="1750" dirty="0"/>
          </a:p>
        </p:txBody>
      </p:sp>
      <p:sp>
        <p:nvSpPr>
          <p:cNvPr id="14" name="Shape 12"/>
          <p:cNvSpPr/>
          <p:nvPr/>
        </p:nvSpPr>
        <p:spPr>
          <a:xfrm>
            <a:off x="801410" y="3579852"/>
            <a:ext cx="13027581" cy="650319"/>
          </a:xfrm>
          <a:prstGeom prst="rect">
            <a:avLst/>
          </a:prstGeom>
          <a:solidFill>
            <a:srgbClr val="FFFFFF">
              <a:alpha val="4000"/>
            </a:srgbClr>
          </a:solidFill>
          <a:ln/>
        </p:spPr>
        <p:txBody>
          <a:bodyPr/>
          <a:lstStyle/>
          <a:p>
            <a:endParaRPr lang="it-IT"/>
          </a:p>
        </p:txBody>
      </p:sp>
      <p:sp>
        <p:nvSpPr>
          <p:cNvPr id="15" name="Text 13"/>
          <p:cNvSpPr/>
          <p:nvPr/>
        </p:nvSpPr>
        <p:spPr>
          <a:xfrm>
            <a:off x="1028462" y="3723561"/>
            <a:ext cx="3450788" cy="362903"/>
          </a:xfrm>
          <a:prstGeom prst="rect">
            <a:avLst/>
          </a:prstGeom>
          <a:noFill/>
          <a:ln/>
        </p:spPr>
        <p:txBody>
          <a:bodyPr wrap="none" lIns="0" tIns="0" rIns="0" bIns="0" rtlCol="0" anchor="t"/>
          <a:lstStyle/>
          <a:p>
            <a:pPr marL="0" indent="0" algn="l">
              <a:lnSpc>
                <a:spcPts val="2850"/>
              </a:lnSpc>
              <a:buNone/>
            </a:pPr>
            <a:r>
              <a:rPr lang="en-US" sz="1750" dirty="0">
                <a:solidFill>
                  <a:srgbClr val="D4D4D1"/>
                </a:solidFill>
                <a:latin typeface="Roboto" pitchFamily="34" charset="0"/>
                <a:ea typeface="Roboto" pitchFamily="34" charset="-122"/>
                <a:cs typeface="Roboto" pitchFamily="34" charset="-120"/>
              </a:rPr>
              <a:t>Language Model Score (LMS %)</a:t>
            </a:r>
            <a:endParaRPr lang="en-US" sz="1750" dirty="0"/>
          </a:p>
        </p:txBody>
      </p:sp>
      <p:sp>
        <p:nvSpPr>
          <p:cNvPr id="16" name="Text 14"/>
          <p:cNvSpPr/>
          <p:nvPr/>
        </p:nvSpPr>
        <p:spPr>
          <a:xfrm>
            <a:off x="4940498" y="3723561"/>
            <a:ext cx="2144197" cy="362903"/>
          </a:xfrm>
          <a:prstGeom prst="rect">
            <a:avLst/>
          </a:prstGeom>
          <a:noFill/>
          <a:ln/>
        </p:spPr>
        <p:txBody>
          <a:bodyPr wrap="none" lIns="0" tIns="0" rIns="0" bIns="0" rtlCol="0" anchor="t"/>
          <a:lstStyle/>
          <a:p>
            <a:pPr marL="0" indent="0" algn="l">
              <a:lnSpc>
                <a:spcPts val="2850"/>
              </a:lnSpc>
              <a:buNone/>
            </a:pPr>
            <a:r>
              <a:rPr lang="en-US" sz="1750" dirty="0">
                <a:solidFill>
                  <a:srgbClr val="D4D4D1"/>
                </a:solidFill>
                <a:latin typeface="Roboto" pitchFamily="34" charset="0"/>
                <a:ea typeface="Roboto" pitchFamily="34" charset="-122"/>
                <a:cs typeface="Roboto" pitchFamily="34" charset="-120"/>
              </a:rPr>
              <a:t>68.83</a:t>
            </a:r>
            <a:endParaRPr lang="en-US" sz="1750" dirty="0"/>
          </a:p>
        </p:txBody>
      </p:sp>
      <p:sp>
        <p:nvSpPr>
          <p:cNvPr id="17" name="Text 15"/>
          <p:cNvSpPr/>
          <p:nvPr/>
        </p:nvSpPr>
        <p:spPr>
          <a:xfrm>
            <a:off x="7545943" y="3723561"/>
            <a:ext cx="2144197" cy="362903"/>
          </a:xfrm>
          <a:prstGeom prst="rect">
            <a:avLst/>
          </a:prstGeom>
          <a:noFill/>
          <a:ln/>
        </p:spPr>
        <p:txBody>
          <a:bodyPr wrap="none" lIns="0" tIns="0" rIns="0" bIns="0" rtlCol="0" anchor="t"/>
          <a:lstStyle/>
          <a:p>
            <a:pPr marL="0" indent="0" algn="l">
              <a:lnSpc>
                <a:spcPts val="2850"/>
              </a:lnSpc>
              <a:buNone/>
            </a:pPr>
            <a:r>
              <a:rPr lang="en-US" sz="1750" dirty="0">
                <a:solidFill>
                  <a:srgbClr val="D4D4D1"/>
                </a:solidFill>
                <a:latin typeface="Roboto" pitchFamily="34" charset="0"/>
                <a:ea typeface="Roboto" pitchFamily="34" charset="-122"/>
                <a:cs typeface="Roboto" pitchFamily="34" charset="-120"/>
              </a:rPr>
              <a:t>71.25</a:t>
            </a:r>
            <a:endParaRPr lang="en-US" sz="1750" dirty="0"/>
          </a:p>
        </p:txBody>
      </p:sp>
      <p:sp>
        <p:nvSpPr>
          <p:cNvPr id="18" name="Text 16"/>
          <p:cNvSpPr/>
          <p:nvPr/>
        </p:nvSpPr>
        <p:spPr>
          <a:xfrm>
            <a:off x="10151388" y="3723561"/>
            <a:ext cx="3450788" cy="362903"/>
          </a:xfrm>
          <a:prstGeom prst="rect">
            <a:avLst/>
          </a:prstGeom>
          <a:noFill/>
          <a:ln/>
        </p:spPr>
        <p:txBody>
          <a:bodyPr wrap="none" lIns="0" tIns="0" rIns="0" bIns="0" rtlCol="0" anchor="t"/>
          <a:lstStyle/>
          <a:p>
            <a:pPr marL="0" indent="0" algn="l">
              <a:lnSpc>
                <a:spcPts val="2850"/>
              </a:lnSpc>
              <a:buNone/>
            </a:pPr>
            <a:r>
              <a:rPr lang="en-US" sz="1750" dirty="0">
                <a:solidFill>
                  <a:srgbClr val="D4D4D1"/>
                </a:solidFill>
                <a:latin typeface="Roboto" pitchFamily="34" charset="0"/>
                <a:ea typeface="Roboto" pitchFamily="34" charset="-122"/>
                <a:cs typeface="Roboto" pitchFamily="34" charset="-120"/>
              </a:rPr>
              <a:t>+2.42 </a:t>
            </a:r>
            <a:r>
              <a:rPr lang="en-US" sz="1750" b="1" dirty="0">
                <a:solidFill>
                  <a:srgbClr val="000000"/>
                </a:solidFill>
                <a:latin typeface="Roboto" pitchFamily="34" charset="0"/>
                <a:ea typeface="Roboto" pitchFamily="34" charset="-122"/>
                <a:cs typeface="Roboto" pitchFamily="34" charset="-120"/>
              </a:rPr>
              <a:t>↗</a:t>
            </a:r>
            <a:endParaRPr lang="en-US" sz="1750" dirty="0"/>
          </a:p>
        </p:txBody>
      </p:sp>
      <p:sp>
        <p:nvSpPr>
          <p:cNvPr id="19" name="Shape 17"/>
          <p:cNvSpPr/>
          <p:nvPr/>
        </p:nvSpPr>
        <p:spPr>
          <a:xfrm>
            <a:off x="801410" y="4230172"/>
            <a:ext cx="13027581" cy="650319"/>
          </a:xfrm>
          <a:prstGeom prst="rect">
            <a:avLst/>
          </a:prstGeom>
          <a:solidFill>
            <a:srgbClr val="000000">
              <a:alpha val="4000"/>
            </a:srgbClr>
          </a:solidFill>
          <a:ln/>
        </p:spPr>
        <p:txBody>
          <a:bodyPr/>
          <a:lstStyle/>
          <a:p>
            <a:endParaRPr lang="it-IT"/>
          </a:p>
        </p:txBody>
      </p:sp>
      <p:sp>
        <p:nvSpPr>
          <p:cNvPr id="20" name="Text 18"/>
          <p:cNvSpPr/>
          <p:nvPr/>
        </p:nvSpPr>
        <p:spPr>
          <a:xfrm>
            <a:off x="1028462" y="4373880"/>
            <a:ext cx="3450788" cy="362903"/>
          </a:xfrm>
          <a:prstGeom prst="rect">
            <a:avLst/>
          </a:prstGeom>
          <a:noFill/>
          <a:ln/>
        </p:spPr>
        <p:txBody>
          <a:bodyPr wrap="none" lIns="0" tIns="0" rIns="0" bIns="0" rtlCol="0" anchor="t"/>
          <a:lstStyle/>
          <a:p>
            <a:pPr marL="0" indent="0" algn="l">
              <a:lnSpc>
                <a:spcPts val="2850"/>
              </a:lnSpc>
              <a:buNone/>
            </a:pPr>
            <a:r>
              <a:rPr lang="en-US" sz="1750" dirty="0">
                <a:solidFill>
                  <a:srgbClr val="D4D4D1"/>
                </a:solidFill>
                <a:latin typeface="Roboto" pitchFamily="34" charset="0"/>
                <a:ea typeface="Roboto" pitchFamily="34" charset="-122"/>
                <a:cs typeface="Roboto" pitchFamily="34" charset="-120"/>
              </a:rPr>
              <a:t>ICAT Score</a:t>
            </a:r>
            <a:endParaRPr lang="en-US" sz="1750" dirty="0"/>
          </a:p>
        </p:txBody>
      </p:sp>
      <p:sp>
        <p:nvSpPr>
          <p:cNvPr id="21" name="Text 19"/>
          <p:cNvSpPr/>
          <p:nvPr/>
        </p:nvSpPr>
        <p:spPr>
          <a:xfrm>
            <a:off x="4940498" y="4373880"/>
            <a:ext cx="2144197" cy="362903"/>
          </a:xfrm>
          <a:prstGeom prst="rect">
            <a:avLst/>
          </a:prstGeom>
          <a:noFill/>
          <a:ln/>
        </p:spPr>
        <p:txBody>
          <a:bodyPr wrap="none" lIns="0" tIns="0" rIns="0" bIns="0" rtlCol="0" anchor="t"/>
          <a:lstStyle/>
          <a:p>
            <a:pPr marL="0" indent="0" algn="l">
              <a:lnSpc>
                <a:spcPts val="2850"/>
              </a:lnSpc>
              <a:buNone/>
            </a:pPr>
            <a:r>
              <a:rPr lang="en-US" sz="1750" dirty="0">
                <a:solidFill>
                  <a:srgbClr val="D4D4D1"/>
                </a:solidFill>
                <a:latin typeface="Roboto" pitchFamily="34" charset="0"/>
                <a:ea typeface="Roboto" pitchFamily="34" charset="-122"/>
                <a:cs typeface="Roboto" pitchFamily="34" charset="-120"/>
              </a:rPr>
              <a:t>67.37</a:t>
            </a:r>
            <a:endParaRPr lang="en-US" sz="1750" dirty="0"/>
          </a:p>
        </p:txBody>
      </p:sp>
      <p:sp>
        <p:nvSpPr>
          <p:cNvPr id="22" name="Text 20"/>
          <p:cNvSpPr/>
          <p:nvPr/>
        </p:nvSpPr>
        <p:spPr>
          <a:xfrm>
            <a:off x="7545943" y="4373880"/>
            <a:ext cx="2144197" cy="362903"/>
          </a:xfrm>
          <a:prstGeom prst="rect">
            <a:avLst/>
          </a:prstGeom>
          <a:noFill/>
          <a:ln/>
        </p:spPr>
        <p:txBody>
          <a:bodyPr wrap="none" lIns="0" tIns="0" rIns="0" bIns="0" rtlCol="0" anchor="t"/>
          <a:lstStyle/>
          <a:p>
            <a:pPr marL="0" indent="0" algn="l">
              <a:lnSpc>
                <a:spcPts val="2850"/>
              </a:lnSpc>
              <a:buNone/>
            </a:pPr>
            <a:r>
              <a:rPr lang="en-US" sz="1750" dirty="0">
                <a:solidFill>
                  <a:srgbClr val="D4D4D1"/>
                </a:solidFill>
                <a:latin typeface="Roboto" pitchFamily="34" charset="0"/>
                <a:ea typeface="Roboto" pitchFamily="34" charset="-122"/>
                <a:cs typeface="Roboto" pitchFamily="34" charset="-120"/>
              </a:rPr>
              <a:t>69.04</a:t>
            </a:r>
            <a:endParaRPr lang="en-US" sz="1750" dirty="0"/>
          </a:p>
        </p:txBody>
      </p:sp>
      <p:sp>
        <p:nvSpPr>
          <p:cNvPr id="23" name="Text 21"/>
          <p:cNvSpPr/>
          <p:nvPr/>
        </p:nvSpPr>
        <p:spPr>
          <a:xfrm>
            <a:off x="10151388" y="4373880"/>
            <a:ext cx="3450788" cy="362903"/>
          </a:xfrm>
          <a:prstGeom prst="rect">
            <a:avLst/>
          </a:prstGeom>
          <a:noFill/>
          <a:ln/>
        </p:spPr>
        <p:txBody>
          <a:bodyPr wrap="none" lIns="0" tIns="0" rIns="0" bIns="0" rtlCol="0" anchor="t"/>
          <a:lstStyle/>
          <a:p>
            <a:pPr marL="0" indent="0" algn="l">
              <a:lnSpc>
                <a:spcPts val="2850"/>
              </a:lnSpc>
              <a:buNone/>
            </a:pPr>
            <a:r>
              <a:rPr lang="en-US" sz="1750" dirty="0">
                <a:solidFill>
                  <a:srgbClr val="D4D4D1"/>
                </a:solidFill>
                <a:latin typeface="Roboto" pitchFamily="34" charset="0"/>
                <a:ea typeface="Roboto" pitchFamily="34" charset="-122"/>
                <a:cs typeface="Roboto" pitchFamily="34" charset="-120"/>
              </a:rPr>
              <a:t>+1.67 </a:t>
            </a:r>
            <a:r>
              <a:rPr lang="en-US" sz="1750" b="1" dirty="0">
                <a:solidFill>
                  <a:srgbClr val="000000"/>
                </a:solidFill>
                <a:latin typeface="Roboto" pitchFamily="34" charset="0"/>
                <a:ea typeface="Roboto" pitchFamily="34" charset="-122"/>
                <a:cs typeface="Roboto" pitchFamily="34" charset="-120"/>
              </a:rPr>
              <a:t>↗</a:t>
            </a:r>
            <a:endParaRPr lang="en-US" sz="1750" dirty="0"/>
          </a:p>
        </p:txBody>
      </p:sp>
      <p:sp>
        <p:nvSpPr>
          <p:cNvPr id="24" name="Shape 22"/>
          <p:cNvSpPr/>
          <p:nvPr/>
        </p:nvSpPr>
        <p:spPr>
          <a:xfrm>
            <a:off x="801410" y="4880491"/>
            <a:ext cx="13027581" cy="650319"/>
          </a:xfrm>
          <a:prstGeom prst="rect">
            <a:avLst/>
          </a:prstGeom>
          <a:solidFill>
            <a:srgbClr val="FFFFFF">
              <a:alpha val="4000"/>
            </a:srgbClr>
          </a:solidFill>
          <a:ln/>
        </p:spPr>
        <p:txBody>
          <a:bodyPr/>
          <a:lstStyle/>
          <a:p>
            <a:endParaRPr lang="it-IT"/>
          </a:p>
        </p:txBody>
      </p:sp>
      <p:sp>
        <p:nvSpPr>
          <p:cNvPr id="25" name="Text 23"/>
          <p:cNvSpPr/>
          <p:nvPr/>
        </p:nvSpPr>
        <p:spPr>
          <a:xfrm>
            <a:off x="1028462" y="5024199"/>
            <a:ext cx="3450788" cy="362903"/>
          </a:xfrm>
          <a:prstGeom prst="rect">
            <a:avLst/>
          </a:prstGeom>
          <a:noFill/>
          <a:ln/>
        </p:spPr>
        <p:txBody>
          <a:bodyPr wrap="none" lIns="0" tIns="0" rIns="0" bIns="0" rtlCol="0" anchor="t"/>
          <a:lstStyle/>
          <a:p>
            <a:pPr marL="0" indent="0" algn="l">
              <a:lnSpc>
                <a:spcPts val="2850"/>
              </a:lnSpc>
              <a:buNone/>
            </a:pPr>
            <a:r>
              <a:rPr lang="en-US" sz="1750" dirty="0">
                <a:solidFill>
                  <a:srgbClr val="D4D4D1"/>
                </a:solidFill>
                <a:latin typeface="Roboto" pitchFamily="34" charset="0"/>
                <a:ea typeface="Roboto" pitchFamily="34" charset="-122"/>
                <a:cs typeface="Roboto" pitchFamily="34" charset="-120"/>
              </a:rPr>
              <a:t>Distance from Ideal 50%</a:t>
            </a:r>
            <a:endParaRPr lang="en-US" sz="1750" dirty="0"/>
          </a:p>
        </p:txBody>
      </p:sp>
      <p:sp>
        <p:nvSpPr>
          <p:cNvPr id="26" name="Text 24"/>
          <p:cNvSpPr/>
          <p:nvPr/>
        </p:nvSpPr>
        <p:spPr>
          <a:xfrm>
            <a:off x="4940498" y="5024199"/>
            <a:ext cx="2144197" cy="362903"/>
          </a:xfrm>
          <a:prstGeom prst="rect">
            <a:avLst/>
          </a:prstGeom>
          <a:noFill/>
          <a:ln/>
        </p:spPr>
        <p:txBody>
          <a:bodyPr wrap="none" lIns="0" tIns="0" rIns="0" bIns="0" rtlCol="0" anchor="t"/>
          <a:lstStyle/>
          <a:p>
            <a:pPr marL="0" indent="0" algn="l">
              <a:lnSpc>
                <a:spcPts val="2850"/>
              </a:lnSpc>
              <a:buNone/>
            </a:pPr>
            <a:r>
              <a:rPr lang="en-US" sz="1750" dirty="0">
                <a:solidFill>
                  <a:srgbClr val="D4D4D1"/>
                </a:solidFill>
                <a:latin typeface="Roboto" pitchFamily="34" charset="0"/>
                <a:ea typeface="Roboto" pitchFamily="34" charset="-122"/>
                <a:cs typeface="Roboto" pitchFamily="34" charset="-120"/>
              </a:rPr>
              <a:t>1.06</a:t>
            </a:r>
            <a:endParaRPr lang="en-US" sz="1750" dirty="0"/>
          </a:p>
        </p:txBody>
      </p:sp>
      <p:sp>
        <p:nvSpPr>
          <p:cNvPr id="27" name="Text 25"/>
          <p:cNvSpPr/>
          <p:nvPr/>
        </p:nvSpPr>
        <p:spPr>
          <a:xfrm>
            <a:off x="7545943" y="5024199"/>
            <a:ext cx="2144197" cy="362903"/>
          </a:xfrm>
          <a:prstGeom prst="rect">
            <a:avLst/>
          </a:prstGeom>
          <a:noFill/>
          <a:ln/>
        </p:spPr>
        <p:txBody>
          <a:bodyPr wrap="none" lIns="0" tIns="0" rIns="0" bIns="0" rtlCol="0" anchor="t"/>
          <a:lstStyle/>
          <a:p>
            <a:pPr marL="0" indent="0" algn="l">
              <a:lnSpc>
                <a:spcPts val="2850"/>
              </a:lnSpc>
              <a:buNone/>
            </a:pPr>
            <a:r>
              <a:rPr lang="en-US" sz="1750" dirty="0">
                <a:solidFill>
                  <a:srgbClr val="D4D4D1"/>
                </a:solidFill>
                <a:latin typeface="Roboto" pitchFamily="34" charset="0"/>
                <a:ea typeface="Roboto" pitchFamily="34" charset="-122"/>
                <a:cs typeface="Roboto" pitchFamily="34" charset="-120"/>
              </a:rPr>
              <a:t>1.55</a:t>
            </a:r>
            <a:endParaRPr lang="en-US" sz="1750" dirty="0"/>
          </a:p>
        </p:txBody>
      </p:sp>
      <p:sp>
        <p:nvSpPr>
          <p:cNvPr id="28" name="Text 26"/>
          <p:cNvSpPr/>
          <p:nvPr/>
        </p:nvSpPr>
        <p:spPr>
          <a:xfrm>
            <a:off x="10151388" y="5024199"/>
            <a:ext cx="3450788" cy="362903"/>
          </a:xfrm>
          <a:prstGeom prst="rect">
            <a:avLst/>
          </a:prstGeom>
          <a:noFill/>
          <a:ln/>
        </p:spPr>
        <p:txBody>
          <a:bodyPr wrap="none" lIns="0" tIns="0" rIns="0" bIns="0" rtlCol="0" anchor="t"/>
          <a:lstStyle/>
          <a:p>
            <a:pPr marL="0" indent="0" algn="l">
              <a:lnSpc>
                <a:spcPts val="2850"/>
              </a:lnSpc>
              <a:buNone/>
            </a:pPr>
            <a:r>
              <a:rPr lang="en-US" sz="1750" dirty="0">
                <a:solidFill>
                  <a:srgbClr val="F44444"/>
                </a:solidFill>
                <a:latin typeface="Roboto" pitchFamily="34" charset="0"/>
                <a:ea typeface="Roboto" pitchFamily="34" charset="-122"/>
                <a:cs typeface="Roboto" pitchFamily="34" charset="-120"/>
              </a:rPr>
              <a:t>+0.49 </a:t>
            </a:r>
            <a:r>
              <a:rPr lang="en-US" sz="1750" dirty="0">
                <a:solidFill>
                  <a:srgbClr val="000000"/>
                </a:solidFill>
                <a:latin typeface="Roboto" pitchFamily="34" charset="0"/>
                <a:ea typeface="Roboto" pitchFamily="34" charset="-122"/>
                <a:cs typeface="Roboto" pitchFamily="34" charset="-120"/>
              </a:rPr>
              <a:t>↗</a:t>
            </a:r>
            <a:endParaRPr lang="en-US" sz="1750" dirty="0"/>
          </a:p>
        </p:txBody>
      </p:sp>
      <p:sp>
        <p:nvSpPr>
          <p:cNvPr id="29" name="Shape 27"/>
          <p:cNvSpPr/>
          <p:nvPr/>
        </p:nvSpPr>
        <p:spPr>
          <a:xfrm>
            <a:off x="793790" y="5793581"/>
            <a:ext cx="13042821" cy="1326713"/>
          </a:xfrm>
          <a:prstGeom prst="roundRect">
            <a:avLst>
              <a:gd name="adj" fmla="val 2565"/>
            </a:avLst>
          </a:prstGeom>
          <a:solidFill>
            <a:srgbClr val="4D1F00"/>
          </a:solidFill>
          <a:ln/>
        </p:spPr>
        <p:txBody>
          <a:bodyPr/>
          <a:lstStyle/>
          <a:p>
            <a:endParaRPr lang="it-IT"/>
          </a:p>
        </p:txBody>
      </p:sp>
      <p:pic>
        <p:nvPicPr>
          <p:cNvPr id="30" name="Image 0" descr="preencoded.png"/>
          <p:cNvPicPr>
            <a:picLocks noChangeAspect="1"/>
          </p:cNvPicPr>
          <p:nvPr/>
        </p:nvPicPr>
        <p:blipFill>
          <a:blip r:embed="rId3"/>
          <a:stretch>
            <a:fillRect/>
          </a:stretch>
        </p:blipFill>
        <p:spPr>
          <a:xfrm>
            <a:off x="1020604" y="6137672"/>
            <a:ext cx="283488" cy="226814"/>
          </a:xfrm>
          <a:prstGeom prst="rect">
            <a:avLst/>
          </a:prstGeom>
        </p:spPr>
      </p:pic>
      <p:sp>
        <p:nvSpPr>
          <p:cNvPr id="31" name="Text 28"/>
          <p:cNvSpPr/>
          <p:nvPr/>
        </p:nvSpPr>
        <p:spPr>
          <a:xfrm>
            <a:off x="1530906" y="6077069"/>
            <a:ext cx="12078891" cy="725805"/>
          </a:xfrm>
          <a:prstGeom prst="rect">
            <a:avLst/>
          </a:prstGeom>
          <a:noFill/>
          <a:ln/>
        </p:spPr>
        <p:txBody>
          <a:bodyPr wrap="square" lIns="0" tIns="0" rIns="0" bIns="0" rtlCol="0" anchor="t"/>
          <a:lstStyle/>
          <a:p>
            <a:pPr marL="0" indent="0" algn="l">
              <a:lnSpc>
                <a:spcPts val="2850"/>
              </a:lnSpc>
              <a:buNone/>
            </a:pPr>
            <a:r>
              <a:rPr lang="en-US" sz="1750" b="1" dirty="0">
                <a:solidFill>
                  <a:srgbClr val="FFFFFF"/>
                </a:solidFill>
                <a:latin typeface="Roboto" pitchFamily="34" charset="0"/>
                <a:ea typeface="Roboto" pitchFamily="34" charset="-122"/>
                <a:cs typeface="Roboto" pitchFamily="34" charset="-120"/>
              </a:rPr>
              <a:t>Key Finding:</a:t>
            </a:r>
            <a:r>
              <a:rPr lang="en-US" sz="1750" dirty="0">
                <a:solidFill>
                  <a:srgbClr val="FFFFFF"/>
                </a:solidFill>
                <a:latin typeface="Roboto" pitchFamily="34" charset="0"/>
                <a:ea typeface="Roboto" pitchFamily="34" charset="-122"/>
                <a:cs typeface="Roboto" pitchFamily="34" charset="-120"/>
              </a:rPr>
              <a:t> Fine-tuning improved language modeling capabilities significantly (+2.42%) but had negligible effect on bias reduction (+0.49%). The model's fairness remained essentially unchanged.</a:t>
            </a:r>
            <a:endParaRPr lang="en-US" sz="1750" dirty="0"/>
          </a:p>
        </p:txBody>
      </p:sp>
      <p:sp>
        <p:nvSpPr>
          <p:cNvPr id="32" name="Rettangolo 31">
            <a:extLst>
              <a:ext uri="{FF2B5EF4-FFF2-40B4-BE49-F238E27FC236}">
                <a16:creationId xmlns:a16="http://schemas.microsoft.com/office/drawing/2014/main" id="{7B2FEE6C-514C-8F82-62BE-D95924AFE0D3}"/>
              </a:ext>
            </a:extLst>
          </p:cNvPr>
          <p:cNvSpPr/>
          <p:nvPr/>
        </p:nvSpPr>
        <p:spPr>
          <a:xfrm>
            <a:off x="11822805" y="7437549"/>
            <a:ext cx="2717443" cy="663262"/>
          </a:xfrm>
          <a:prstGeom prst="rect">
            <a:avLst/>
          </a:prstGeom>
          <a:solidFill>
            <a:srgbClr val="292C3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93790" y="737711"/>
            <a:ext cx="6579275" cy="708779"/>
          </a:xfrm>
          <a:prstGeom prst="rect">
            <a:avLst/>
          </a:prstGeom>
          <a:noFill/>
          <a:ln/>
        </p:spPr>
        <p:txBody>
          <a:bodyPr wrap="none" lIns="0" tIns="0" rIns="0" bIns="0" rtlCol="0" anchor="t"/>
          <a:lstStyle/>
          <a:p>
            <a:pPr marL="0" indent="0" algn="l">
              <a:lnSpc>
                <a:spcPts val="5550"/>
              </a:lnSpc>
              <a:buNone/>
            </a:pPr>
            <a:r>
              <a:rPr lang="en-US" sz="4450" dirty="0">
                <a:solidFill>
                  <a:srgbClr val="F3F3F2"/>
                </a:solidFill>
                <a:latin typeface="IBM Plex Sans Medium" pitchFamily="34" charset="0"/>
                <a:ea typeface="IBM Plex Sans Medium" pitchFamily="34" charset="-122"/>
                <a:cs typeface="IBM Plex Sans Medium" pitchFamily="34" charset="-120"/>
              </a:rPr>
              <a:t>Domain-Specific Analysis</a:t>
            </a:r>
            <a:endParaRPr lang="en-US" sz="4450" dirty="0"/>
          </a:p>
        </p:txBody>
      </p:sp>
      <p:sp>
        <p:nvSpPr>
          <p:cNvPr id="3" name="Text 1"/>
          <p:cNvSpPr/>
          <p:nvPr/>
        </p:nvSpPr>
        <p:spPr>
          <a:xfrm>
            <a:off x="793790" y="1900118"/>
            <a:ext cx="13042821" cy="725805"/>
          </a:xfrm>
          <a:prstGeom prst="rect">
            <a:avLst/>
          </a:prstGeom>
          <a:noFill/>
          <a:ln/>
        </p:spPr>
        <p:txBody>
          <a:bodyPr wrap="square" lIns="0" tIns="0" rIns="0" bIns="0" rtlCol="0" anchor="t"/>
          <a:lstStyle/>
          <a:p>
            <a:pPr marL="0" indent="0" algn="l">
              <a:lnSpc>
                <a:spcPts val="2850"/>
              </a:lnSpc>
              <a:buNone/>
            </a:pPr>
            <a:r>
              <a:rPr lang="en-US" sz="1750" dirty="0">
                <a:solidFill>
                  <a:srgbClr val="D4D4D1"/>
                </a:solidFill>
                <a:latin typeface="Roboto" pitchFamily="34" charset="0"/>
                <a:ea typeface="Roboto" pitchFamily="34" charset="-122"/>
                <a:cs typeface="Roboto" pitchFamily="34" charset="-120"/>
              </a:rPr>
              <a:t>Performance remained remarkably consistent across all bias categories, with minimal variation from the ideal 50% fairness threshold.</a:t>
            </a:r>
            <a:endParaRPr lang="en-US" sz="1750" dirty="0"/>
          </a:p>
        </p:txBody>
      </p:sp>
      <p:sp>
        <p:nvSpPr>
          <p:cNvPr id="4" name="Shape 2"/>
          <p:cNvSpPr/>
          <p:nvPr/>
        </p:nvSpPr>
        <p:spPr>
          <a:xfrm>
            <a:off x="793790" y="2881074"/>
            <a:ext cx="13042821" cy="3266837"/>
          </a:xfrm>
          <a:prstGeom prst="roundRect">
            <a:avLst>
              <a:gd name="adj" fmla="val 1042"/>
            </a:avLst>
          </a:prstGeom>
          <a:noFill/>
          <a:ln w="7620">
            <a:solidFill>
              <a:srgbClr val="FFFFFF">
                <a:alpha val="24000"/>
              </a:srgbClr>
            </a:solidFill>
            <a:prstDash val="solid"/>
          </a:ln>
        </p:spPr>
        <p:txBody>
          <a:bodyPr/>
          <a:lstStyle/>
          <a:p>
            <a:endParaRPr lang="it-IT"/>
          </a:p>
        </p:txBody>
      </p:sp>
      <p:sp>
        <p:nvSpPr>
          <p:cNvPr id="5" name="Shape 3"/>
          <p:cNvSpPr/>
          <p:nvPr/>
        </p:nvSpPr>
        <p:spPr>
          <a:xfrm>
            <a:off x="801410" y="2888694"/>
            <a:ext cx="13027581" cy="650319"/>
          </a:xfrm>
          <a:prstGeom prst="rect">
            <a:avLst/>
          </a:prstGeom>
          <a:solidFill>
            <a:srgbClr val="FFFFFF">
              <a:alpha val="4000"/>
            </a:srgbClr>
          </a:solidFill>
          <a:ln/>
        </p:spPr>
        <p:txBody>
          <a:bodyPr/>
          <a:lstStyle/>
          <a:p>
            <a:endParaRPr lang="it-IT"/>
          </a:p>
        </p:txBody>
      </p:sp>
      <p:sp>
        <p:nvSpPr>
          <p:cNvPr id="6" name="Text 4"/>
          <p:cNvSpPr/>
          <p:nvPr/>
        </p:nvSpPr>
        <p:spPr>
          <a:xfrm>
            <a:off x="1028462" y="3032403"/>
            <a:ext cx="2799397" cy="362903"/>
          </a:xfrm>
          <a:prstGeom prst="rect">
            <a:avLst/>
          </a:prstGeom>
          <a:noFill/>
          <a:ln/>
        </p:spPr>
        <p:txBody>
          <a:bodyPr wrap="none" lIns="0" tIns="0" rIns="0" bIns="0" rtlCol="0" anchor="t"/>
          <a:lstStyle/>
          <a:p>
            <a:pPr marL="0" indent="0" algn="l">
              <a:lnSpc>
                <a:spcPts val="2850"/>
              </a:lnSpc>
              <a:buNone/>
            </a:pPr>
            <a:r>
              <a:rPr lang="en-US" sz="1750" b="1" dirty="0">
                <a:solidFill>
                  <a:srgbClr val="D4D4D1"/>
                </a:solidFill>
                <a:latin typeface="Roboto" pitchFamily="34" charset="0"/>
                <a:ea typeface="Roboto" pitchFamily="34" charset="-122"/>
                <a:cs typeface="Roboto" pitchFamily="34" charset="-120"/>
              </a:rPr>
              <a:t>Domain</a:t>
            </a:r>
            <a:endParaRPr lang="en-US" sz="1750" dirty="0"/>
          </a:p>
        </p:txBody>
      </p:sp>
      <p:sp>
        <p:nvSpPr>
          <p:cNvPr id="7" name="Text 5"/>
          <p:cNvSpPr/>
          <p:nvPr/>
        </p:nvSpPr>
        <p:spPr>
          <a:xfrm>
            <a:off x="4289108" y="3032403"/>
            <a:ext cx="2795588" cy="362903"/>
          </a:xfrm>
          <a:prstGeom prst="rect">
            <a:avLst/>
          </a:prstGeom>
          <a:noFill/>
          <a:ln/>
        </p:spPr>
        <p:txBody>
          <a:bodyPr wrap="none" lIns="0" tIns="0" rIns="0" bIns="0" rtlCol="0" anchor="t"/>
          <a:lstStyle/>
          <a:p>
            <a:pPr marL="0" indent="0" algn="l">
              <a:lnSpc>
                <a:spcPts val="2850"/>
              </a:lnSpc>
              <a:buNone/>
            </a:pPr>
            <a:r>
              <a:rPr lang="en-US" sz="1750" b="1" dirty="0">
                <a:solidFill>
                  <a:srgbClr val="D4D4D1"/>
                </a:solidFill>
                <a:latin typeface="Roboto" pitchFamily="34" charset="0"/>
                <a:ea typeface="Roboto" pitchFamily="34" charset="-122"/>
                <a:cs typeface="Roboto" pitchFamily="34" charset="-120"/>
              </a:rPr>
              <a:t>Baseline SS (%)</a:t>
            </a:r>
            <a:endParaRPr lang="en-US" sz="1750" dirty="0"/>
          </a:p>
        </p:txBody>
      </p:sp>
      <p:sp>
        <p:nvSpPr>
          <p:cNvPr id="8" name="Text 6"/>
          <p:cNvSpPr/>
          <p:nvPr/>
        </p:nvSpPr>
        <p:spPr>
          <a:xfrm>
            <a:off x="7545943" y="3032403"/>
            <a:ext cx="2795588" cy="362903"/>
          </a:xfrm>
          <a:prstGeom prst="rect">
            <a:avLst/>
          </a:prstGeom>
          <a:noFill/>
          <a:ln/>
        </p:spPr>
        <p:txBody>
          <a:bodyPr wrap="none" lIns="0" tIns="0" rIns="0" bIns="0" rtlCol="0" anchor="t"/>
          <a:lstStyle/>
          <a:p>
            <a:pPr marL="0" indent="0" algn="l">
              <a:lnSpc>
                <a:spcPts val="2850"/>
              </a:lnSpc>
              <a:buNone/>
            </a:pPr>
            <a:r>
              <a:rPr lang="en-US" sz="1750" b="1" dirty="0">
                <a:solidFill>
                  <a:srgbClr val="D4D4D1"/>
                </a:solidFill>
                <a:latin typeface="Roboto" pitchFamily="34" charset="0"/>
                <a:ea typeface="Roboto" pitchFamily="34" charset="-122"/>
                <a:cs typeface="Roboto" pitchFamily="34" charset="-120"/>
              </a:rPr>
              <a:t>Fine-tuned SS (%)</a:t>
            </a:r>
            <a:endParaRPr lang="en-US" sz="1750" dirty="0"/>
          </a:p>
        </p:txBody>
      </p:sp>
      <p:sp>
        <p:nvSpPr>
          <p:cNvPr id="9" name="Text 7"/>
          <p:cNvSpPr/>
          <p:nvPr/>
        </p:nvSpPr>
        <p:spPr>
          <a:xfrm>
            <a:off x="10802779" y="3032403"/>
            <a:ext cx="2799397" cy="362903"/>
          </a:xfrm>
          <a:prstGeom prst="rect">
            <a:avLst/>
          </a:prstGeom>
          <a:noFill/>
          <a:ln/>
        </p:spPr>
        <p:txBody>
          <a:bodyPr wrap="none" lIns="0" tIns="0" rIns="0" bIns="0" rtlCol="0" anchor="t"/>
          <a:lstStyle/>
          <a:p>
            <a:pPr marL="0" indent="0" algn="l">
              <a:lnSpc>
                <a:spcPts val="2850"/>
              </a:lnSpc>
              <a:buNone/>
            </a:pPr>
            <a:r>
              <a:rPr lang="en-US" sz="1750" b="1" dirty="0">
                <a:solidFill>
                  <a:srgbClr val="D4D4D1"/>
                </a:solidFill>
                <a:latin typeface="Roboto" pitchFamily="34" charset="0"/>
                <a:ea typeface="Roboto" pitchFamily="34" charset="-122"/>
                <a:cs typeface="Roboto" pitchFamily="34" charset="-120"/>
              </a:rPr>
              <a:t>Change</a:t>
            </a:r>
            <a:endParaRPr lang="en-US" sz="1750" dirty="0"/>
          </a:p>
        </p:txBody>
      </p:sp>
      <p:sp>
        <p:nvSpPr>
          <p:cNvPr id="10" name="Shape 8"/>
          <p:cNvSpPr/>
          <p:nvPr/>
        </p:nvSpPr>
        <p:spPr>
          <a:xfrm>
            <a:off x="801410" y="3539014"/>
            <a:ext cx="13027581" cy="650319"/>
          </a:xfrm>
          <a:prstGeom prst="rect">
            <a:avLst/>
          </a:prstGeom>
          <a:solidFill>
            <a:srgbClr val="000000">
              <a:alpha val="4000"/>
            </a:srgbClr>
          </a:solidFill>
          <a:ln/>
        </p:spPr>
        <p:txBody>
          <a:bodyPr/>
          <a:lstStyle/>
          <a:p>
            <a:endParaRPr lang="it-IT"/>
          </a:p>
        </p:txBody>
      </p:sp>
      <p:sp>
        <p:nvSpPr>
          <p:cNvPr id="11" name="Text 9"/>
          <p:cNvSpPr/>
          <p:nvPr/>
        </p:nvSpPr>
        <p:spPr>
          <a:xfrm>
            <a:off x="1028462" y="3682722"/>
            <a:ext cx="2799397" cy="362903"/>
          </a:xfrm>
          <a:prstGeom prst="rect">
            <a:avLst/>
          </a:prstGeom>
          <a:noFill/>
          <a:ln/>
        </p:spPr>
        <p:txBody>
          <a:bodyPr wrap="none" lIns="0" tIns="0" rIns="0" bIns="0" rtlCol="0" anchor="t"/>
          <a:lstStyle/>
          <a:p>
            <a:pPr marL="0" indent="0" algn="l">
              <a:lnSpc>
                <a:spcPts val="2850"/>
              </a:lnSpc>
              <a:buNone/>
            </a:pPr>
            <a:r>
              <a:rPr lang="en-US" sz="1750" b="1" dirty="0">
                <a:solidFill>
                  <a:srgbClr val="D4D4D1"/>
                </a:solidFill>
                <a:latin typeface="Roboto" pitchFamily="34" charset="0"/>
                <a:ea typeface="Roboto" pitchFamily="34" charset="-122"/>
                <a:cs typeface="Roboto" pitchFamily="34" charset="-120"/>
              </a:rPr>
              <a:t>Profession</a:t>
            </a:r>
            <a:endParaRPr lang="en-US" sz="1750" dirty="0"/>
          </a:p>
        </p:txBody>
      </p:sp>
      <p:sp>
        <p:nvSpPr>
          <p:cNvPr id="12" name="Text 10"/>
          <p:cNvSpPr/>
          <p:nvPr/>
        </p:nvSpPr>
        <p:spPr>
          <a:xfrm>
            <a:off x="4289108" y="3682722"/>
            <a:ext cx="2795588" cy="362903"/>
          </a:xfrm>
          <a:prstGeom prst="rect">
            <a:avLst/>
          </a:prstGeom>
          <a:noFill/>
          <a:ln/>
        </p:spPr>
        <p:txBody>
          <a:bodyPr wrap="none" lIns="0" tIns="0" rIns="0" bIns="0" rtlCol="0" anchor="t"/>
          <a:lstStyle/>
          <a:p>
            <a:pPr marL="0" indent="0" algn="l">
              <a:lnSpc>
                <a:spcPts val="2850"/>
              </a:lnSpc>
              <a:buNone/>
            </a:pPr>
            <a:r>
              <a:rPr lang="en-US" sz="1750" dirty="0">
                <a:solidFill>
                  <a:srgbClr val="51CF66"/>
                </a:solidFill>
                <a:latin typeface="Roboto" pitchFamily="34" charset="0"/>
                <a:ea typeface="Roboto" pitchFamily="34" charset="-122"/>
                <a:cs typeface="Roboto" pitchFamily="34" charset="-120"/>
              </a:rPr>
              <a:t>50.42</a:t>
            </a:r>
            <a:endParaRPr lang="en-US" sz="1750" dirty="0"/>
          </a:p>
        </p:txBody>
      </p:sp>
      <p:sp>
        <p:nvSpPr>
          <p:cNvPr id="13" name="Text 11"/>
          <p:cNvSpPr/>
          <p:nvPr/>
        </p:nvSpPr>
        <p:spPr>
          <a:xfrm>
            <a:off x="7545943" y="3682722"/>
            <a:ext cx="2795588" cy="362903"/>
          </a:xfrm>
          <a:prstGeom prst="rect">
            <a:avLst/>
          </a:prstGeom>
          <a:noFill/>
          <a:ln/>
        </p:spPr>
        <p:txBody>
          <a:bodyPr wrap="none" lIns="0" tIns="0" rIns="0" bIns="0" rtlCol="0" anchor="t"/>
          <a:lstStyle/>
          <a:p>
            <a:pPr marL="0" indent="0" algn="l">
              <a:lnSpc>
                <a:spcPts val="2850"/>
              </a:lnSpc>
              <a:buNone/>
            </a:pPr>
            <a:r>
              <a:rPr lang="en-US" sz="1750" dirty="0">
                <a:solidFill>
                  <a:srgbClr val="D4D4D1"/>
                </a:solidFill>
                <a:latin typeface="Roboto" pitchFamily="34" charset="0"/>
                <a:ea typeface="Roboto" pitchFamily="34" charset="-122"/>
                <a:cs typeface="Roboto" pitchFamily="34" charset="-120"/>
              </a:rPr>
              <a:t>50.85</a:t>
            </a:r>
            <a:endParaRPr lang="en-US" sz="1750" dirty="0"/>
          </a:p>
        </p:txBody>
      </p:sp>
      <p:sp>
        <p:nvSpPr>
          <p:cNvPr id="14" name="Text 12"/>
          <p:cNvSpPr/>
          <p:nvPr/>
        </p:nvSpPr>
        <p:spPr>
          <a:xfrm>
            <a:off x="10802779" y="3682722"/>
            <a:ext cx="2799397" cy="362903"/>
          </a:xfrm>
          <a:prstGeom prst="rect">
            <a:avLst/>
          </a:prstGeom>
          <a:noFill/>
          <a:ln/>
        </p:spPr>
        <p:txBody>
          <a:bodyPr wrap="none" lIns="0" tIns="0" rIns="0" bIns="0" rtlCol="0" anchor="t"/>
          <a:lstStyle/>
          <a:p>
            <a:pPr marL="0" indent="0" algn="l">
              <a:lnSpc>
                <a:spcPts val="2850"/>
              </a:lnSpc>
              <a:buNone/>
            </a:pPr>
            <a:r>
              <a:rPr lang="en-US" sz="1750" dirty="0">
                <a:solidFill>
                  <a:srgbClr val="FFA44F"/>
                </a:solidFill>
                <a:latin typeface="Roboto" pitchFamily="34" charset="0"/>
                <a:ea typeface="Roboto" pitchFamily="34" charset="-122"/>
                <a:cs typeface="Roboto" pitchFamily="34" charset="-120"/>
              </a:rPr>
              <a:t>+0.43</a:t>
            </a:r>
            <a:endParaRPr lang="en-US" sz="1750" dirty="0"/>
          </a:p>
        </p:txBody>
      </p:sp>
      <p:sp>
        <p:nvSpPr>
          <p:cNvPr id="15" name="Shape 13"/>
          <p:cNvSpPr/>
          <p:nvPr/>
        </p:nvSpPr>
        <p:spPr>
          <a:xfrm>
            <a:off x="801410" y="4189333"/>
            <a:ext cx="13027581" cy="650319"/>
          </a:xfrm>
          <a:prstGeom prst="rect">
            <a:avLst/>
          </a:prstGeom>
          <a:solidFill>
            <a:srgbClr val="FFFFFF">
              <a:alpha val="4000"/>
            </a:srgbClr>
          </a:solidFill>
          <a:ln/>
        </p:spPr>
        <p:txBody>
          <a:bodyPr/>
          <a:lstStyle/>
          <a:p>
            <a:endParaRPr lang="it-IT"/>
          </a:p>
        </p:txBody>
      </p:sp>
      <p:sp>
        <p:nvSpPr>
          <p:cNvPr id="16" name="Text 14"/>
          <p:cNvSpPr/>
          <p:nvPr/>
        </p:nvSpPr>
        <p:spPr>
          <a:xfrm>
            <a:off x="1028462" y="4333042"/>
            <a:ext cx="2799397" cy="362903"/>
          </a:xfrm>
          <a:prstGeom prst="rect">
            <a:avLst/>
          </a:prstGeom>
          <a:noFill/>
          <a:ln/>
        </p:spPr>
        <p:txBody>
          <a:bodyPr wrap="none" lIns="0" tIns="0" rIns="0" bIns="0" rtlCol="0" anchor="t"/>
          <a:lstStyle/>
          <a:p>
            <a:pPr marL="0" indent="0" algn="l">
              <a:lnSpc>
                <a:spcPts val="2850"/>
              </a:lnSpc>
              <a:buNone/>
            </a:pPr>
            <a:r>
              <a:rPr lang="en-US" sz="1750" b="1" dirty="0">
                <a:solidFill>
                  <a:srgbClr val="D4D4D1"/>
                </a:solidFill>
                <a:latin typeface="Roboto" pitchFamily="34" charset="0"/>
                <a:ea typeface="Roboto" pitchFamily="34" charset="-122"/>
                <a:cs typeface="Roboto" pitchFamily="34" charset="-120"/>
              </a:rPr>
              <a:t>Race</a:t>
            </a:r>
            <a:endParaRPr lang="en-US" sz="1750" dirty="0"/>
          </a:p>
        </p:txBody>
      </p:sp>
      <p:sp>
        <p:nvSpPr>
          <p:cNvPr id="17" name="Text 15"/>
          <p:cNvSpPr/>
          <p:nvPr/>
        </p:nvSpPr>
        <p:spPr>
          <a:xfrm>
            <a:off x="4289108" y="4333042"/>
            <a:ext cx="2795588" cy="362903"/>
          </a:xfrm>
          <a:prstGeom prst="rect">
            <a:avLst/>
          </a:prstGeom>
          <a:noFill/>
          <a:ln/>
        </p:spPr>
        <p:txBody>
          <a:bodyPr wrap="none" lIns="0" tIns="0" rIns="0" bIns="0" rtlCol="0" anchor="t"/>
          <a:lstStyle/>
          <a:p>
            <a:pPr marL="0" indent="0" algn="l">
              <a:lnSpc>
                <a:spcPts val="2850"/>
              </a:lnSpc>
              <a:buNone/>
            </a:pPr>
            <a:r>
              <a:rPr lang="en-US" sz="1750" dirty="0">
                <a:solidFill>
                  <a:srgbClr val="D4D4D1"/>
                </a:solidFill>
                <a:latin typeface="Roboto" pitchFamily="34" charset="0"/>
                <a:ea typeface="Roboto" pitchFamily="34" charset="-122"/>
                <a:cs typeface="Roboto" pitchFamily="34" charset="-120"/>
              </a:rPr>
              <a:t>51.42</a:t>
            </a:r>
            <a:endParaRPr lang="en-US" sz="1750" dirty="0"/>
          </a:p>
        </p:txBody>
      </p:sp>
      <p:sp>
        <p:nvSpPr>
          <p:cNvPr id="18" name="Text 16"/>
          <p:cNvSpPr/>
          <p:nvPr/>
        </p:nvSpPr>
        <p:spPr>
          <a:xfrm>
            <a:off x="7545943" y="4333042"/>
            <a:ext cx="2795588" cy="362903"/>
          </a:xfrm>
          <a:prstGeom prst="rect">
            <a:avLst/>
          </a:prstGeom>
          <a:noFill/>
          <a:ln/>
        </p:spPr>
        <p:txBody>
          <a:bodyPr wrap="none" lIns="0" tIns="0" rIns="0" bIns="0" rtlCol="0" anchor="t"/>
          <a:lstStyle/>
          <a:p>
            <a:pPr marL="0" indent="0" algn="l">
              <a:lnSpc>
                <a:spcPts val="2850"/>
              </a:lnSpc>
              <a:buNone/>
            </a:pPr>
            <a:r>
              <a:rPr lang="en-US" sz="1750" dirty="0">
                <a:solidFill>
                  <a:srgbClr val="D4D4D1"/>
                </a:solidFill>
                <a:latin typeface="Roboto" pitchFamily="34" charset="0"/>
                <a:ea typeface="Roboto" pitchFamily="34" charset="-122"/>
                <a:cs typeface="Roboto" pitchFamily="34" charset="-120"/>
              </a:rPr>
              <a:t>52.12</a:t>
            </a:r>
            <a:endParaRPr lang="en-US" sz="1750" dirty="0"/>
          </a:p>
        </p:txBody>
      </p:sp>
      <p:sp>
        <p:nvSpPr>
          <p:cNvPr id="19" name="Text 17"/>
          <p:cNvSpPr/>
          <p:nvPr/>
        </p:nvSpPr>
        <p:spPr>
          <a:xfrm>
            <a:off x="10802779" y="4333042"/>
            <a:ext cx="2799397" cy="362903"/>
          </a:xfrm>
          <a:prstGeom prst="rect">
            <a:avLst/>
          </a:prstGeom>
          <a:noFill/>
          <a:ln/>
        </p:spPr>
        <p:txBody>
          <a:bodyPr wrap="none" lIns="0" tIns="0" rIns="0" bIns="0" rtlCol="0" anchor="t"/>
          <a:lstStyle/>
          <a:p>
            <a:pPr marL="0" indent="0" algn="l">
              <a:lnSpc>
                <a:spcPts val="2850"/>
              </a:lnSpc>
              <a:buNone/>
            </a:pPr>
            <a:r>
              <a:rPr lang="en-US" sz="1750" dirty="0">
                <a:solidFill>
                  <a:srgbClr val="FFBC8F"/>
                </a:solidFill>
                <a:latin typeface="Roboto" pitchFamily="34" charset="0"/>
                <a:ea typeface="Roboto" pitchFamily="34" charset="-122"/>
                <a:cs typeface="Roboto" pitchFamily="34" charset="-120"/>
              </a:rPr>
              <a:t>+0.70</a:t>
            </a:r>
            <a:endParaRPr lang="en-US" sz="1750" dirty="0"/>
          </a:p>
        </p:txBody>
      </p:sp>
      <p:sp>
        <p:nvSpPr>
          <p:cNvPr id="20" name="Shape 18"/>
          <p:cNvSpPr/>
          <p:nvPr/>
        </p:nvSpPr>
        <p:spPr>
          <a:xfrm>
            <a:off x="801410" y="4839653"/>
            <a:ext cx="13027581" cy="650319"/>
          </a:xfrm>
          <a:prstGeom prst="rect">
            <a:avLst/>
          </a:prstGeom>
          <a:solidFill>
            <a:srgbClr val="000000">
              <a:alpha val="4000"/>
            </a:srgbClr>
          </a:solidFill>
          <a:ln/>
        </p:spPr>
        <p:txBody>
          <a:bodyPr/>
          <a:lstStyle/>
          <a:p>
            <a:endParaRPr lang="it-IT"/>
          </a:p>
        </p:txBody>
      </p:sp>
      <p:sp>
        <p:nvSpPr>
          <p:cNvPr id="21" name="Text 19"/>
          <p:cNvSpPr/>
          <p:nvPr/>
        </p:nvSpPr>
        <p:spPr>
          <a:xfrm>
            <a:off x="1028462" y="4983361"/>
            <a:ext cx="2799397" cy="362903"/>
          </a:xfrm>
          <a:prstGeom prst="rect">
            <a:avLst/>
          </a:prstGeom>
          <a:noFill/>
          <a:ln/>
        </p:spPr>
        <p:txBody>
          <a:bodyPr wrap="none" lIns="0" tIns="0" rIns="0" bIns="0" rtlCol="0" anchor="t"/>
          <a:lstStyle/>
          <a:p>
            <a:pPr marL="0" indent="0" algn="l">
              <a:lnSpc>
                <a:spcPts val="2850"/>
              </a:lnSpc>
              <a:buNone/>
            </a:pPr>
            <a:r>
              <a:rPr lang="en-US" sz="1750" b="1" dirty="0">
                <a:solidFill>
                  <a:srgbClr val="D4D4D1"/>
                </a:solidFill>
                <a:latin typeface="Roboto" pitchFamily="34" charset="0"/>
                <a:ea typeface="Roboto" pitchFamily="34" charset="-122"/>
                <a:cs typeface="Roboto" pitchFamily="34" charset="-120"/>
              </a:rPr>
              <a:t>Gender</a:t>
            </a:r>
            <a:endParaRPr lang="en-US" sz="1750" dirty="0"/>
          </a:p>
        </p:txBody>
      </p:sp>
      <p:sp>
        <p:nvSpPr>
          <p:cNvPr id="22" name="Text 20"/>
          <p:cNvSpPr/>
          <p:nvPr/>
        </p:nvSpPr>
        <p:spPr>
          <a:xfrm>
            <a:off x="4289108" y="4983361"/>
            <a:ext cx="2795588" cy="362903"/>
          </a:xfrm>
          <a:prstGeom prst="rect">
            <a:avLst/>
          </a:prstGeom>
          <a:noFill/>
          <a:ln/>
        </p:spPr>
        <p:txBody>
          <a:bodyPr wrap="none" lIns="0" tIns="0" rIns="0" bIns="0" rtlCol="0" anchor="t"/>
          <a:lstStyle/>
          <a:p>
            <a:pPr marL="0" indent="0" algn="l">
              <a:lnSpc>
                <a:spcPts val="2850"/>
              </a:lnSpc>
              <a:buNone/>
            </a:pPr>
            <a:r>
              <a:rPr lang="en-US" sz="1750" dirty="0">
                <a:solidFill>
                  <a:srgbClr val="D4D4D1"/>
                </a:solidFill>
                <a:latin typeface="Roboto" pitchFamily="34" charset="0"/>
                <a:ea typeface="Roboto" pitchFamily="34" charset="-122"/>
                <a:cs typeface="Roboto" pitchFamily="34" charset="-120"/>
              </a:rPr>
              <a:t>51.66</a:t>
            </a:r>
            <a:endParaRPr lang="en-US" sz="1750" dirty="0"/>
          </a:p>
        </p:txBody>
      </p:sp>
      <p:sp>
        <p:nvSpPr>
          <p:cNvPr id="23" name="Text 21"/>
          <p:cNvSpPr/>
          <p:nvPr/>
        </p:nvSpPr>
        <p:spPr>
          <a:xfrm>
            <a:off x="7545943" y="4983361"/>
            <a:ext cx="2795588" cy="362903"/>
          </a:xfrm>
          <a:prstGeom prst="rect">
            <a:avLst/>
          </a:prstGeom>
          <a:noFill/>
          <a:ln/>
        </p:spPr>
        <p:txBody>
          <a:bodyPr wrap="none" lIns="0" tIns="0" rIns="0" bIns="0" rtlCol="0" anchor="t"/>
          <a:lstStyle/>
          <a:p>
            <a:pPr marL="0" indent="0" algn="l">
              <a:lnSpc>
                <a:spcPts val="2850"/>
              </a:lnSpc>
              <a:buNone/>
            </a:pPr>
            <a:r>
              <a:rPr lang="en-US" sz="1750" dirty="0">
                <a:solidFill>
                  <a:srgbClr val="D4D4D1"/>
                </a:solidFill>
                <a:latin typeface="Roboto" pitchFamily="34" charset="0"/>
                <a:ea typeface="Roboto" pitchFamily="34" charset="-122"/>
                <a:cs typeface="Roboto" pitchFamily="34" charset="-120"/>
              </a:rPr>
              <a:t>51.61</a:t>
            </a:r>
            <a:endParaRPr lang="en-US" sz="1750" dirty="0"/>
          </a:p>
        </p:txBody>
      </p:sp>
      <p:sp>
        <p:nvSpPr>
          <p:cNvPr id="24" name="Text 22"/>
          <p:cNvSpPr/>
          <p:nvPr/>
        </p:nvSpPr>
        <p:spPr>
          <a:xfrm>
            <a:off x="10802779" y="4983361"/>
            <a:ext cx="2799397" cy="362903"/>
          </a:xfrm>
          <a:prstGeom prst="rect">
            <a:avLst/>
          </a:prstGeom>
          <a:noFill/>
          <a:ln/>
        </p:spPr>
        <p:txBody>
          <a:bodyPr wrap="none" lIns="0" tIns="0" rIns="0" bIns="0" rtlCol="0" anchor="t"/>
          <a:lstStyle/>
          <a:p>
            <a:pPr marL="0" indent="0" algn="l">
              <a:lnSpc>
                <a:spcPts val="2850"/>
              </a:lnSpc>
              <a:buNone/>
            </a:pPr>
            <a:r>
              <a:rPr lang="en-US" sz="1750" dirty="0">
                <a:solidFill>
                  <a:srgbClr val="5CC97B"/>
                </a:solidFill>
                <a:latin typeface="Roboto" pitchFamily="34" charset="0"/>
                <a:ea typeface="Roboto" pitchFamily="34" charset="-122"/>
                <a:cs typeface="Roboto" pitchFamily="34" charset="-120"/>
              </a:rPr>
              <a:t>-0.05</a:t>
            </a:r>
            <a:endParaRPr lang="en-US" sz="1750" dirty="0"/>
          </a:p>
        </p:txBody>
      </p:sp>
      <p:sp>
        <p:nvSpPr>
          <p:cNvPr id="25" name="Shape 23"/>
          <p:cNvSpPr/>
          <p:nvPr/>
        </p:nvSpPr>
        <p:spPr>
          <a:xfrm>
            <a:off x="801410" y="5489972"/>
            <a:ext cx="13027581" cy="650319"/>
          </a:xfrm>
          <a:prstGeom prst="rect">
            <a:avLst/>
          </a:prstGeom>
          <a:solidFill>
            <a:srgbClr val="FFFFFF">
              <a:alpha val="4000"/>
            </a:srgbClr>
          </a:solidFill>
          <a:ln/>
        </p:spPr>
        <p:txBody>
          <a:bodyPr/>
          <a:lstStyle/>
          <a:p>
            <a:endParaRPr lang="it-IT"/>
          </a:p>
        </p:txBody>
      </p:sp>
      <p:sp>
        <p:nvSpPr>
          <p:cNvPr id="26" name="Text 24"/>
          <p:cNvSpPr/>
          <p:nvPr/>
        </p:nvSpPr>
        <p:spPr>
          <a:xfrm>
            <a:off x="1028462" y="5633680"/>
            <a:ext cx="2799397" cy="362903"/>
          </a:xfrm>
          <a:prstGeom prst="rect">
            <a:avLst/>
          </a:prstGeom>
          <a:noFill/>
          <a:ln/>
        </p:spPr>
        <p:txBody>
          <a:bodyPr wrap="none" lIns="0" tIns="0" rIns="0" bIns="0" rtlCol="0" anchor="t"/>
          <a:lstStyle/>
          <a:p>
            <a:pPr marL="0" indent="0" algn="l">
              <a:lnSpc>
                <a:spcPts val="2850"/>
              </a:lnSpc>
              <a:buNone/>
            </a:pPr>
            <a:r>
              <a:rPr lang="en-US" sz="1750" b="1" dirty="0">
                <a:solidFill>
                  <a:srgbClr val="D4D4D1"/>
                </a:solidFill>
                <a:latin typeface="Roboto" pitchFamily="34" charset="0"/>
                <a:ea typeface="Roboto" pitchFamily="34" charset="-122"/>
                <a:cs typeface="Roboto" pitchFamily="34" charset="-120"/>
              </a:rPr>
              <a:t>Religion</a:t>
            </a:r>
            <a:endParaRPr lang="en-US" sz="1750" dirty="0"/>
          </a:p>
        </p:txBody>
      </p:sp>
      <p:sp>
        <p:nvSpPr>
          <p:cNvPr id="27" name="Text 25"/>
          <p:cNvSpPr/>
          <p:nvPr/>
        </p:nvSpPr>
        <p:spPr>
          <a:xfrm>
            <a:off x="4289108" y="5633680"/>
            <a:ext cx="2795588" cy="362903"/>
          </a:xfrm>
          <a:prstGeom prst="rect">
            <a:avLst/>
          </a:prstGeom>
          <a:noFill/>
          <a:ln/>
        </p:spPr>
        <p:txBody>
          <a:bodyPr wrap="none" lIns="0" tIns="0" rIns="0" bIns="0" rtlCol="0" anchor="t"/>
          <a:lstStyle/>
          <a:p>
            <a:pPr marL="0" indent="0" algn="l">
              <a:lnSpc>
                <a:spcPts val="2850"/>
              </a:lnSpc>
              <a:buNone/>
            </a:pPr>
            <a:r>
              <a:rPr lang="en-US" sz="1750" dirty="0">
                <a:solidFill>
                  <a:srgbClr val="D4D4D1"/>
                </a:solidFill>
                <a:latin typeface="Roboto" pitchFamily="34" charset="0"/>
                <a:ea typeface="Roboto" pitchFamily="34" charset="-122"/>
                <a:cs typeface="Roboto" pitchFamily="34" charset="-120"/>
              </a:rPr>
              <a:t>51.31</a:t>
            </a:r>
            <a:endParaRPr lang="en-US" sz="1750" dirty="0"/>
          </a:p>
        </p:txBody>
      </p:sp>
      <p:sp>
        <p:nvSpPr>
          <p:cNvPr id="28" name="Text 26"/>
          <p:cNvSpPr/>
          <p:nvPr/>
        </p:nvSpPr>
        <p:spPr>
          <a:xfrm>
            <a:off x="7545943" y="5633680"/>
            <a:ext cx="2795588" cy="362903"/>
          </a:xfrm>
          <a:prstGeom prst="rect">
            <a:avLst/>
          </a:prstGeom>
          <a:noFill/>
          <a:ln/>
        </p:spPr>
        <p:txBody>
          <a:bodyPr wrap="none" lIns="0" tIns="0" rIns="0" bIns="0" rtlCol="0" anchor="t"/>
          <a:lstStyle/>
          <a:p>
            <a:pPr marL="0" indent="0" algn="l">
              <a:lnSpc>
                <a:spcPts val="2850"/>
              </a:lnSpc>
              <a:buNone/>
            </a:pPr>
            <a:r>
              <a:rPr lang="en-US" sz="1750" dirty="0">
                <a:solidFill>
                  <a:srgbClr val="D4D4D1"/>
                </a:solidFill>
                <a:latin typeface="Roboto" pitchFamily="34" charset="0"/>
                <a:ea typeface="Roboto" pitchFamily="34" charset="-122"/>
                <a:cs typeface="Roboto" pitchFamily="34" charset="-120"/>
              </a:rPr>
              <a:t>51.31</a:t>
            </a:r>
            <a:endParaRPr lang="en-US" sz="1750" dirty="0"/>
          </a:p>
        </p:txBody>
      </p:sp>
      <p:sp>
        <p:nvSpPr>
          <p:cNvPr id="29" name="Text 27"/>
          <p:cNvSpPr/>
          <p:nvPr/>
        </p:nvSpPr>
        <p:spPr>
          <a:xfrm>
            <a:off x="10802779" y="5633680"/>
            <a:ext cx="2799397" cy="362903"/>
          </a:xfrm>
          <a:prstGeom prst="rect">
            <a:avLst/>
          </a:prstGeom>
          <a:noFill/>
          <a:ln/>
        </p:spPr>
        <p:txBody>
          <a:bodyPr wrap="none" lIns="0" tIns="0" rIns="0" bIns="0" rtlCol="0" anchor="t"/>
          <a:lstStyle/>
          <a:p>
            <a:pPr marL="0" indent="0" algn="l">
              <a:lnSpc>
                <a:spcPts val="2850"/>
              </a:lnSpc>
              <a:buNone/>
            </a:pPr>
            <a:r>
              <a:rPr lang="en-US" sz="1750" b="1" dirty="0">
                <a:solidFill>
                  <a:srgbClr val="D4D4D1"/>
                </a:solidFill>
                <a:latin typeface="Roboto" pitchFamily="34" charset="0"/>
                <a:ea typeface="Roboto" pitchFamily="34" charset="-122"/>
                <a:cs typeface="Roboto" pitchFamily="34" charset="-120"/>
              </a:rPr>
              <a:t>0.00</a:t>
            </a:r>
            <a:endParaRPr lang="en-US" sz="1750" dirty="0"/>
          </a:p>
        </p:txBody>
      </p:sp>
      <p:sp>
        <p:nvSpPr>
          <p:cNvPr id="30" name="Text 28"/>
          <p:cNvSpPr/>
          <p:nvPr/>
        </p:nvSpPr>
        <p:spPr>
          <a:xfrm>
            <a:off x="793790" y="6403062"/>
            <a:ext cx="13042821" cy="1088708"/>
          </a:xfrm>
          <a:prstGeom prst="rect">
            <a:avLst/>
          </a:prstGeom>
          <a:noFill/>
          <a:ln/>
        </p:spPr>
        <p:txBody>
          <a:bodyPr wrap="square" lIns="0" tIns="0" rIns="0" bIns="0" rtlCol="0" anchor="t"/>
          <a:lstStyle/>
          <a:p>
            <a:pPr marL="0" indent="0" algn="l">
              <a:lnSpc>
                <a:spcPts val="2850"/>
              </a:lnSpc>
              <a:buNone/>
            </a:pPr>
            <a:r>
              <a:rPr lang="en-US" sz="1750" b="1" dirty="0">
                <a:solidFill>
                  <a:srgbClr val="D4D4D1"/>
                </a:solidFill>
                <a:latin typeface="Roboto" pitchFamily="34" charset="0"/>
                <a:ea typeface="Roboto" pitchFamily="34" charset="-122"/>
                <a:cs typeface="Roboto" pitchFamily="34" charset="-120"/>
              </a:rPr>
              <a:t>Key Observation:</a:t>
            </a:r>
            <a:r>
              <a:rPr lang="en-US" sz="1750" dirty="0">
                <a:solidFill>
                  <a:srgbClr val="D4D4D1"/>
                </a:solidFill>
                <a:latin typeface="Roboto" pitchFamily="34" charset="0"/>
                <a:ea typeface="Roboto" pitchFamily="34" charset="-122"/>
                <a:cs typeface="Roboto" pitchFamily="34" charset="-120"/>
              </a:rPr>
              <a:t> All categories remain within 1-2 percentage points of ideal fairness. The profession domain showed the best baseline performance (50.42%), while race exhibited the largest change (+0.70%). Gender was the only domain showing minimal improvement, and religion remained completely unchanged.</a:t>
            </a:r>
            <a:endParaRPr lang="en-US" sz="1750" dirty="0"/>
          </a:p>
        </p:txBody>
      </p:sp>
      <p:sp>
        <p:nvSpPr>
          <p:cNvPr id="31" name="Rettangolo 30">
            <a:extLst>
              <a:ext uri="{FF2B5EF4-FFF2-40B4-BE49-F238E27FC236}">
                <a16:creationId xmlns:a16="http://schemas.microsoft.com/office/drawing/2014/main" id="{A8B745C8-604A-50D4-BB80-30820DE57A5E}"/>
              </a:ext>
            </a:extLst>
          </p:cNvPr>
          <p:cNvSpPr/>
          <p:nvPr/>
        </p:nvSpPr>
        <p:spPr>
          <a:xfrm>
            <a:off x="11822805" y="7437549"/>
            <a:ext cx="2717443" cy="663262"/>
          </a:xfrm>
          <a:prstGeom prst="rect">
            <a:avLst/>
          </a:prstGeom>
          <a:solidFill>
            <a:srgbClr val="292C3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93790" y="673537"/>
            <a:ext cx="6787396" cy="673418"/>
          </a:xfrm>
          <a:prstGeom prst="rect">
            <a:avLst/>
          </a:prstGeom>
          <a:noFill/>
          <a:ln/>
        </p:spPr>
        <p:txBody>
          <a:bodyPr wrap="none" lIns="0" tIns="0" rIns="0" bIns="0" rtlCol="0" anchor="t"/>
          <a:lstStyle/>
          <a:p>
            <a:pPr marL="0" indent="0" algn="l">
              <a:lnSpc>
                <a:spcPts val="5300"/>
              </a:lnSpc>
              <a:buNone/>
            </a:pPr>
            <a:r>
              <a:rPr lang="en-US" sz="4200" dirty="0">
                <a:solidFill>
                  <a:srgbClr val="F3F3F2"/>
                </a:solidFill>
                <a:latin typeface="IBM Plex Sans Medium" pitchFamily="34" charset="0"/>
                <a:ea typeface="IBM Plex Sans Medium" pitchFamily="34" charset="-122"/>
                <a:cs typeface="IBM Plex Sans Medium" pitchFamily="34" charset="-120"/>
              </a:rPr>
              <a:t>Key Insights &amp; Implications</a:t>
            </a:r>
            <a:endParaRPr lang="en-US" sz="4200" dirty="0"/>
          </a:p>
        </p:txBody>
      </p:sp>
      <p:sp>
        <p:nvSpPr>
          <p:cNvPr id="3" name="Text 1"/>
          <p:cNvSpPr/>
          <p:nvPr/>
        </p:nvSpPr>
        <p:spPr>
          <a:xfrm>
            <a:off x="793790" y="1777841"/>
            <a:ext cx="215384" cy="269319"/>
          </a:xfrm>
          <a:prstGeom prst="rect">
            <a:avLst/>
          </a:prstGeom>
          <a:noFill/>
          <a:ln/>
        </p:spPr>
        <p:txBody>
          <a:bodyPr wrap="none" lIns="0" tIns="0" rIns="0" bIns="0" rtlCol="0" anchor="t"/>
          <a:lstStyle/>
          <a:p>
            <a:pPr marL="0" indent="0" algn="l">
              <a:lnSpc>
                <a:spcPts val="2700"/>
              </a:lnSpc>
              <a:buNone/>
            </a:pPr>
            <a:r>
              <a:rPr lang="en-US" sz="1650" dirty="0">
                <a:solidFill>
                  <a:srgbClr val="D4D4D1"/>
                </a:solidFill>
                <a:latin typeface="IBM Plex Sans Light" pitchFamily="34" charset="0"/>
                <a:ea typeface="IBM Plex Sans Light" pitchFamily="34" charset="-122"/>
                <a:cs typeface="IBM Plex Sans Light" pitchFamily="34" charset="-120"/>
              </a:rPr>
              <a:t>01</a:t>
            </a:r>
            <a:endParaRPr lang="en-US" sz="1650" dirty="0"/>
          </a:p>
        </p:txBody>
      </p:sp>
      <p:sp>
        <p:nvSpPr>
          <p:cNvPr id="4" name="Shape 2"/>
          <p:cNvSpPr/>
          <p:nvPr/>
        </p:nvSpPr>
        <p:spPr>
          <a:xfrm>
            <a:off x="793790" y="2113478"/>
            <a:ext cx="4203978" cy="30480"/>
          </a:xfrm>
          <a:prstGeom prst="rect">
            <a:avLst/>
          </a:prstGeom>
          <a:solidFill>
            <a:srgbClr val="FFBC8F"/>
          </a:solidFill>
          <a:ln/>
        </p:spPr>
        <p:txBody>
          <a:bodyPr/>
          <a:lstStyle/>
          <a:p>
            <a:endParaRPr lang="it-IT"/>
          </a:p>
        </p:txBody>
      </p:sp>
      <p:sp>
        <p:nvSpPr>
          <p:cNvPr id="5" name="Text 3"/>
          <p:cNvSpPr/>
          <p:nvPr/>
        </p:nvSpPr>
        <p:spPr>
          <a:xfrm>
            <a:off x="793790" y="2282071"/>
            <a:ext cx="4203978" cy="807958"/>
          </a:xfrm>
          <a:prstGeom prst="rect">
            <a:avLst/>
          </a:prstGeom>
          <a:noFill/>
          <a:ln/>
        </p:spPr>
        <p:txBody>
          <a:bodyPr wrap="square" lIns="0" tIns="0" rIns="0" bIns="0" rtlCol="0" anchor="t"/>
          <a:lstStyle/>
          <a:p>
            <a:pPr marL="0" indent="0" algn="l">
              <a:lnSpc>
                <a:spcPts val="3150"/>
              </a:lnSpc>
              <a:buNone/>
            </a:pPr>
            <a:r>
              <a:rPr lang="en-US" sz="2500" dirty="0">
                <a:solidFill>
                  <a:srgbClr val="D4D4D1"/>
                </a:solidFill>
                <a:latin typeface="IBM Plex Sans Medium" pitchFamily="34" charset="0"/>
                <a:ea typeface="IBM Plex Sans Medium" pitchFamily="34" charset="-122"/>
                <a:cs typeface="IBM Plex Sans Medium" pitchFamily="34" charset="-120"/>
              </a:rPr>
              <a:t>Pre-trained Models May Be Less Biased Than Assumed</a:t>
            </a:r>
            <a:endParaRPr lang="en-US" sz="2500" dirty="0"/>
          </a:p>
        </p:txBody>
      </p:sp>
      <p:sp>
        <p:nvSpPr>
          <p:cNvPr id="6" name="Text 4"/>
          <p:cNvSpPr/>
          <p:nvPr/>
        </p:nvSpPr>
        <p:spPr>
          <a:xfrm>
            <a:off x="793790" y="3219212"/>
            <a:ext cx="4203978" cy="2758440"/>
          </a:xfrm>
          <a:prstGeom prst="rect">
            <a:avLst/>
          </a:prstGeom>
          <a:noFill/>
          <a:ln/>
        </p:spPr>
        <p:txBody>
          <a:bodyPr wrap="square" lIns="0" tIns="0" rIns="0" bIns="0" rtlCol="0" anchor="t"/>
          <a:lstStyle/>
          <a:p>
            <a:pPr marL="0" indent="0" algn="l">
              <a:lnSpc>
                <a:spcPts val="2700"/>
              </a:lnSpc>
              <a:buNone/>
            </a:pPr>
            <a:r>
              <a:rPr lang="en-US" sz="1650" dirty="0">
                <a:solidFill>
                  <a:srgbClr val="D4D4D1"/>
                </a:solidFill>
                <a:latin typeface="Roboto" pitchFamily="34" charset="0"/>
                <a:ea typeface="Roboto" pitchFamily="34" charset="-122"/>
                <a:cs typeface="Roboto" pitchFamily="34" charset="-120"/>
              </a:rPr>
              <a:t>RoBERTa-base demonstrated near-perfect fairness (51.06%) without any intervention, just 1.06 points from perfect neutrality. This challenges prevailing assumptions about inherent bias in large language models and suggests that modern architectures may naturally learn more balanced representations.</a:t>
            </a:r>
            <a:endParaRPr lang="en-US" sz="1650" dirty="0"/>
          </a:p>
        </p:txBody>
      </p:sp>
      <p:sp>
        <p:nvSpPr>
          <p:cNvPr id="7" name="Text 5"/>
          <p:cNvSpPr/>
          <p:nvPr/>
        </p:nvSpPr>
        <p:spPr>
          <a:xfrm>
            <a:off x="5213152" y="1777841"/>
            <a:ext cx="215384" cy="269319"/>
          </a:xfrm>
          <a:prstGeom prst="rect">
            <a:avLst/>
          </a:prstGeom>
          <a:noFill/>
          <a:ln/>
        </p:spPr>
        <p:txBody>
          <a:bodyPr wrap="none" lIns="0" tIns="0" rIns="0" bIns="0" rtlCol="0" anchor="t"/>
          <a:lstStyle/>
          <a:p>
            <a:pPr marL="0" indent="0" algn="l">
              <a:lnSpc>
                <a:spcPts val="2700"/>
              </a:lnSpc>
              <a:buNone/>
            </a:pPr>
            <a:r>
              <a:rPr lang="en-US" sz="1650" dirty="0">
                <a:solidFill>
                  <a:srgbClr val="D4D4D1"/>
                </a:solidFill>
                <a:latin typeface="IBM Plex Sans Light" pitchFamily="34" charset="0"/>
                <a:ea typeface="IBM Plex Sans Light" pitchFamily="34" charset="-122"/>
                <a:cs typeface="IBM Plex Sans Light" pitchFamily="34" charset="-120"/>
              </a:rPr>
              <a:t>02</a:t>
            </a:r>
            <a:endParaRPr lang="en-US" sz="1650" dirty="0"/>
          </a:p>
        </p:txBody>
      </p:sp>
      <p:sp>
        <p:nvSpPr>
          <p:cNvPr id="8" name="Shape 6"/>
          <p:cNvSpPr/>
          <p:nvPr/>
        </p:nvSpPr>
        <p:spPr>
          <a:xfrm>
            <a:off x="5213152" y="2113478"/>
            <a:ext cx="4203978" cy="30480"/>
          </a:xfrm>
          <a:prstGeom prst="rect">
            <a:avLst/>
          </a:prstGeom>
          <a:solidFill>
            <a:srgbClr val="FFBC8F"/>
          </a:solidFill>
          <a:ln/>
        </p:spPr>
        <p:txBody>
          <a:bodyPr/>
          <a:lstStyle/>
          <a:p>
            <a:endParaRPr lang="it-IT"/>
          </a:p>
        </p:txBody>
      </p:sp>
      <p:sp>
        <p:nvSpPr>
          <p:cNvPr id="9" name="Text 7"/>
          <p:cNvSpPr/>
          <p:nvPr/>
        </p:nvSpPr>
        <p:spPr>
          <a:xfrm>
            <a:off x="5213152" y="2282071"/>
            <a:ext cx="4203978" cy="807958"/>
          </a:xfrm>
          <a:prstGeom prst="rect">
            <a:avLst/>
          </a:prstGeom>
          <a:noFill/>
          <a:ln/>
        </p:spPr>
        <p:txBody>
          <a:bodyPr wrap="square" lIns="0" tIns="0" rIns="0" bIns="0" rtlCol="0" anchor="t"/>
          <a:lstStyle/>
          <a:p>
            <a:pPr marL="0" indent="0" algn="l">
              <a:lnSpc>
                <a:spcPts val="3150"/>
              </a:lnSpc>
              <a:buNone/>
            </a:pPr>
            <a:r>
              <a:rPr lang="en-US" sz="2500" dirty="0">
                <a:solidFill>
                  <a:srgbClr val="D4D4D1"/>
                </a:solidFill>
                <a:latin typeface="IBM Plex Sans Medium" pitchFamily="34" charset="0"/>
                <a:ea typeface="IBM Plex Sans Medium" pitchFamily="34" charset="-122"/>
                <a:cs typeface="IBM Plex Sans Medium" pitchFamily="34" charset="-120"/>
              </a:rPr>
              <a:t>Debiasing Can Be Counterproductive</a:t>
            </a:r>
            <a:endParaRPr lang="en-US" sz="2500" dirty="0"/>
          </a:p>
        </p:txBody>
      </p:sp>
      <p:sp>
        <p:nvSpPr>
          <p:cNvPr id="10" name="Text 8"/>
          <p:cNvSpPr/>
          <p:nvPr/>
        </p:nvSpPr>
        <p:spPr>
          <a:xfrm>
            <a:off x="5213152" y="3219212"/>
            <a:ext cx="4203978" cy="2758440"/>
          </a:xfrm>
          <a:prstGeom prst="rect">
            <a:avLst/>
          </a:prstGeom>
          <a:noFill/>
          <a:ln/>
        </p:spPr>
        <p:txBody>
          <a:bodyPr wrap="square" lIns="0" tIns="0" rIns="0" bIns="0" rtlCol="0" anchor="t"/>
          <a:lstStyle/>
          <a:p>
            <a:pPr marL="0" indent="0" algn="l">
              <a:lnSpc>
                <a:spcPts val="2700"/>
              </a:lnSpc>
              <a:buNone/>
            </a:pPr>
            <a:r>
              <a:rPr lang="en-US" sz="1650" dirty="0">
                <a:solidFill>
                  <a:srgbClr val="D4D4D1"/>
                </a:solidFill>
                <a:latin typeface="Roboto" pitchFamily="34" charset="0"/>
                <a:ea typeface="Roboto" pitchFamily="34" charset="-122"/>
                <a:cs typeface="Roboto" pitchFamily="34" charset="-120"/>
              </a:rPr>
              <a:t>When models already perform optimally, bias mitigation interventions may cause regression rather than improvement. The stereotype score slightly increased (+0.49%) despite targeted counterfactual training, demonstrating that "fixing" what isn't broken can lead to unintended consequences.</a:t>
            </a:r>
            <a:endParaRPr lang="en-US" sz="1650" dirty="0"/>
          </a:p>
        </p:txBody>
      </p:sp>
      <p:sp>
        <p:nvSpPr>
          <p:cNvPr id="11" name="Text 9"/>
          <p:cNvSpPr/>
          <p:nvPr/>
        </p:nvSpPr>
        <p:spPr>
          <a:xfrm>
            <a:off x="9632513" y="1777841"/>
            <a:ext cx="215384" cy="269319"/>
          </a:xfrm>
          <a:prstGeom prst="rect">
            <a:avLst/>
          </a:prstGeom>
          <a:noFill/>
          <a:ln/>
        </p:spPr>
        <p:txBody>
          <a:bodyPr wrap="none" lIns="0" tIns="0" rIns="0" bIns="0" rtlCol="0" anchor="t"/>
          <a:lstStyle/>
          <a:p>
            <a:pPr marL="0" indent="0" algn="l">
              <a:lnSpc>
                <a:spcPts val="2700"/>
              </a:lnSpc>
              <a:buNone/>
            </a:pPr>
            <a:r>
              <a:rPr lang="en-US" sz="1650" dirty="0">
                <a:solidFill>
                  <a:srgbClr val="D4D4D1"/>
                </a:solidFill>
                <a:latin typeface="IBM Plex Sans Light" pitchFamily="34" charset="0"/>
                <a:ea typeface="IBM Plex Sans Light" pitchFamily="34" charset="-122"/>
                <a:cs typeface="IBM Plex Sans Light" pitchFamily="34" charset="-120"/>
              </a:rPr>
              <a:t>03</a:t>
            </a:r>
            <a:endParaRPr lang="en-US" sz="1650" dirty="0"/>
          </a:p>
        </p:txBody>
      </p:sp>
      <p:sp>
        <p:nvSpPr>
          <p:cNvPr id="12" name="Shape 10"/>
          <p:cNvSpPr/>
          <p:nvPr/>
        </p:nvSpPr>
        <p:spPr>
          <a:xfrm>
            <a:off x="9632513" y="2113478"/>
            <a:ext cx="4203978" cy="30480"/>
          </a:xfrm>
          <a:prstGeom prst="rect">
            <a:avLst/>
          </a:prstGeom>
          <a:solidFill>
            <a:srgbClr val="FFBC8F"/>
          </a:solidFill>
          <a:ln/>
        </p:spPr>
        <p:txBody>
          <a:bodyPr/>
          <a:lstStyle/>
          <a:p>
            <a:endParaRPr lang="it-IT"/>
          </a:p>
        </p:txBody>
      </p:sp>
      <p:sp>
        <p:nvSpPr>
          <p:cNvPr id="13" name="Text 11"/>
          <p:cNvSpPr/>
          <p:nvPr/>
        </p:nvSpPr>
        <p:spPr>
          <a:xfrm>
            <a:off x="9632513" y="2282071"/>
            <a:ext cx="4203978" cy="807958"/>
          </a:xfrm>
          <a:prstGeom prst="rect">
            <a:avLst/>
          </a:prstGeom>
          <a:noFill/>
          <a:ln/>
        </p:spPr>
        <p:txBody>
          <a:bodyPr wrap="square" lIns="0" tIns="0" rIns="0" bIns="0" rtlCol="0" anchor="t"/>
          <a:lstStyle/>
          <a:p>
            <a:pPr marL="0" indent="0" algn="l">
              <a:lnSpc>
                <a:spcPts val="3150"/>
              </a:lnSpc>
              <a:buNone/>
            </a:pPr>
            <a:r>
              <a:rPr lang="en-US" sz="2500" dirty="0">
                <a:solidFill>
                  <a:srgbClr val="D4D4D1"/>
                </a:solidFill>
                <a:latin typeface="IBM Plex Sans Medium" pitchFamily="34" charset="0"/>
                <a:ea typeface="IBM Plex Sans Medium" pitchFamily="34" charset="-122"/>
                <a:cs typeface="IBM Plex Sans Medium" pitchFamily="34" charset="-120"/>
              </a:rPr>
              <a:t>Measurement vs. Reality Gap</a:t>
            </a:r>
            <a:endParaRPr lang="en-US" sz="2500" dirty="0"/>
          </a:p>
        </p:txBody>
      </p:sp>
      <p:sp>
        <p:nvSpPr>
          <p:cNvPr id="14" name="Text 12"/>
          <p:cNvSpPr/>
          <p:nvPr/>
        </p:nvSpPr>
        <p:spPr>
          <a:xfrm>
            <a:off x="9632513" y="3219212"/>
            <a:ext cx="4203978" cy="2758440"/>
          </a:xfrm>
          <a:prstGeom prst="rect">
            <a:avLst/>
          </a:prstGeom>
          <a:noFill/>
          <a:ln/>
        </p:spPr>
        <p:txBody>
          <a:bodyPr wrap="square" lIns="0" tIns="0" rIns="0" bIns="0" rtlCol="0" anchor="t"/>
          <a:lstStyle/>
          <a:p>
            <a:pPr marL="0" indent="0" algn="l">
              <a:lnSpc>
                <a:spcPts val="2700"/>
              </a:lnSpc>
              <a:buNone/>
            </a:pPr>
            <a:r>
              <a:rPr lang="en-US" sz="1650" dirty="0">
                <a:solidFill>
                  <a:srgbClr val="D4D4D1"/>
                </a:solidFill>
                <a:latin typeface="Roboto" pitchFamily="34" charset="0"/>
                <a:ea typeface="Roboto" pitchFamily="34" charset="-122"/>
                <a:cs typeface="Roboto" pitchFamily="34" charset="-120"/>
              </a:rPr>
              <a:t>Near-perfect scores raise critical questions: Are we observing genuine fairness or benchmark artifacts? StereoSet may not capture the full complexity of subtle biases that manifest in real-world applications, highlighting the need for more sophisticated and comprehensive evaluation methodologies.</a:t>
            </a:r>
            <a:endParaRPr lang="en-US" sz="1650" dirty="0"/>
          </a:p>
        </p:txBody>
      </p:sp>
      <p:sp>
        <p:nvSpPr>
          <p:cNvPr id="15" name="Text 13"/>
          <p:cNvSpPr/>
          <p:nvPr/>
        </p:nvSpPr>
        <p:spPr>
          <a:xfrm>
            <a:off x="1116925" y="6624042"/>
            <a:ext cx="12719685" cy="689610"/>
          </a:xfrm>
          <a:prstGeom prst="rect">
            <a:avLst/>
          </a:prstGeom>
          <a:noFill/>
          <a:ln/>
        </p:spPr>
        <p:txBody>
          <a:bodyPr wrap="square" lIns="0" tIns="0" rIns="0" bIns="0" rtlCol="0" anchor="t"/>
          <a:lstStyle/>
          <a:p>
            <a:pPr marL="0" indent="0" algn="l">
              <a:lnSpc>
                <a:spcPts val="2700"/>
              </a:lnSpc>
              <a:buNone/>
            </a:pPr>
            <a:r>
              <a:rPr lang="en-US" sz="1650" b="1" dirty="0">
                <a:solidFill>
                  <a:srgbClr val="FFBC8F"/>
                </a:solidFill>
                <a:latin typeface="Roboto" pitchFamily="34" charset="0"/>
                <a:ea typeface="Roboto" pitchFamily="34" charset="-122"/>
                <a:cs typeface="Roboto" pitchFamily="34" charset="-120"/>
              </a:rPr>
              <a:t>Critical Takeaway:</a:t>
            </a:r>
            <a:r>
              <a:rPr lang="en-US" sz="1650" dirty="0">
                <a:solidFill>
                  <a:srgbClr val="D4D4D1"/>
                </a:solidFill>
                <a:latin typeface="Roboto" pitchFamily="34" charset="0"/>
                <a:ea typeface="Roboto" pitchFamily="34" charset="-122"/>
                <a:cs typeface="Roboto" pitchFamily="34" charset="-120"/>
              </a:rPr>
              <a:t> Always evaluate baseline fairness before applying bias mitigation techniques. Understanding a model's inherent characteristics is essential for informed intervention decisions.</a:t>
            </a:r>
            <a:endParaRPr lang="en-US" sz="1650" dirty="0"/>
          </a:p>
        </p:txBody>
      </p:sp>
      <p:sp>
        <p:nvSpPr>
          <p:cNvPr id="16" name="Shape 14"/>
          <p:cNvSpPr/>
          <p:nvPr/>
        </p:nvSpPr>
        <p:spPr>
          <a:xfrm>
            <a:off x="793790" y="6381631"/>
            <a:ext cx="30480" cy="1174433"/>
          </a:xfrm>
          <a:prstGeom prst="rect">
            <a:avLst/>
          </a:prstGeom>
          <a:solidFill>
            <a:srgbClr val="FFBC8F"/>
          </a:solidFill>
          <a:ln/>
        </p:spPr>
        <p:txBody>
          <a:bodyPr/>
          <a:lstStyle/>
          <a:p>
            <a:endParaRPr lang="it-IT"/>
          </a:p>
        </p:txBody>
      </p:sp>
      <p:sp>
        <p:nvSpPr>
          <p:cNvPr id="17" name="Rettangolo 16">
            <a:extLst>
              <a:ext uri="{FF2B5EF4-FFF2-40B4-BE49-F238E27FC236}">
                <a16:creationId xmlns:a16="http://schemas.microsoft.com/office/drawing/2014/main" id="{46045432-C683-B0FC-14BE-CC1C562AC4CB}"/>
              </a:ext>
            </a:extLst>
          </p:cNvPr>
          <p:cNvSpPr/>
          <p:nvPr/>
        </p:nvSpPr>
        <p:spPr>
          <a:xfrm>
            <a:off x="11822805" y="7437549"/>
            <a:ext cx="2717443" cy="663262"/>
          </a:xfrm>
          <a:prstGeom prst="rect">
            <a:avLst/>
          </a:prstGeom>
          <a:solidFill>
            <a:srgbClr val="292C3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93790" y="841058"/>
            <a:ext cx="7459147" cy="637937"/>
          </a:xfrm>
          <a:prstGeom prst="rect">
            <a:avLst/>
          </a:prstGeom>
          <a:noFill/>
          <a:ln/>
        </p:spPr>
        <p:txBody>
          <a:bodyPr wrap="none" lIns="0" tIns="0" rIns="0" bIns="0" rtlCol="0" anchor="t"/>
          <a:lstStyle/>
          <a:p>
            <a:pPr marL="0" indent="0" algn="l">
              <a:lnSpc>
                <a:spcPts val="5000"/>
              </a:lnSpc>
              <a:buNone/>
            </a:pPr>
            <a:r>
              <a:rPr lang="en-US" sz="4000" dirty="0">
                <a:solidFill>
                  <a:srgbClr val="F3F3F2"/>
                </a:solidFill>
                <a:latin typeface="IBM Plex Sans Medium" pitchFamily="34" charset="0"/>
                <a:ea typeface="IBM Plex Sans Medium" pitchFamily="34" charset="-122"/>
                <a:cs typeface="IBM Plex Sans Medium" pitchFamily="34" charset="-120"/>
              </a:rPr>
              <a:t>Conclusions &amp; Future Directions</a:t>
            </a:r>
            <a:endParaRPr lang="en-US" sz="4000" dirty="0"/>
          </a:p>
        </p:txBody>
      </p:sp>
      <p:sp>
        <p:nvSpPr>
          <p:cNvPr id="3" name="Text 1"/>
          <p:cNvSpPr/>
          <p:nvPr/>
        </p:nvSpPr>
        <p:spPr>
          <a:xfrm>
            <a:off x="793790" y="1989296"/>
            <a:ext cx="3069312" cy="673656"/>
          </a:xfrm>
          <a:prstGeom prst="rect">
            <a:avLst/>
          </a:prstGeom>
          <a:noFill/>
          <a:ln/>
        </p:spPr>
        <p:txBody>
          <a:bodyPr wrap="none" lIns="0" tIns="0" rIns="0" bIns="0" rtlCol="0" anchor="t"/>
          <a:lstStyle/>
          <a:p>
            <a:pPr marL="0" indent="0" algn="ctr">
              <a:lnSpc>
                <a:spcPts val="5300"/>
              </a:lnSpc>
              <a:buNone/>
            </a:pPr>
            <a:r>
              <a:rPr lang="en-US" sz="5300" dirty="0">
                <a:solidFill>
                  <a:srgbClr val="D4D4D1"/>
                </a:solidFill>
                <a:latin typeface="IBM Plex Sans Medium" pitchFamily="34" charset="0"/>
                <a:ea typeface="IBM Plex Sans Medium" pitchFamily="34" charset="-122"/>
                <a:cs typeface="IBM Plex Sans Medium" pitchFamily="34" charset="-120"/>
              </a:rPr>
              <a:t>51.06%</a:t>
            </a:r>
            <a:endParaRPr lang="en-US" sz="5300" dirty="0"/>
          </a:p>
        </p:txBody>
      </p:sp>
      <p:sp>
        <p:nvSpPr>
          <p:cNvPr id="4" name="Text 2"/>
          <p:cNvSpPr/>
          <p:nvPr/>
        </p:nvSpPr>
        <p:spPr>
          <a:xfrm>
            <a:off x="1052513" y="2917984"/>
            <a:ext cx="2551748" cy="318849"/>
          </a:xfrm>
          <a:prstGeom prst="rect">
            <a:avLst/>
          </a:prstGeom>
          <a:noFill/>
          <a:ln/>
        </p:spPr>
        <p:txBody>
          <a:bodyPr wrap="none" lIns="0" tIns="0" rIns="0" bIns="0" rtlCol="0" anchor="t"/>
          <a:lstStyle/>
          <a:p>
            <a:pPr marL="0" indent="0" algn="ctr">
              <a:lnSpc>
                <a:spcPts val="2500"/>
              </a:lnSpc>
              <a:buNone/>
            </a:pPr>
            <a:r>
              <a:rPr lang="en-US" sz="2000" dirty="0">
                <a:solidFill>
                  <a:srgbClr val="D4D4D1"/>
                </a:solidFill>
                <a:latin typeface="IBM Plex Sans Medium" pitchFamily="34" charset="0"/>
                <a:ea typeface="IBM Plex Sans Medium" pitchFamily="34" charset="-122"/>
                <a:cs typeface="IBM Plex Sans Medium" pitchFamily="34" charset="-120"/>
              </a:rPr>
              <a:t>Baseline SS</a:t>
            </a:r>
            <a:endParaRPr lang="en-US" sz="2000" dirty="0"/>
          </a:p>
        </p:txBody>
      </p:sp>
      <p:sp>
        <p:nvSpPr>
          <p:cNvPr id="5" name="Text 3"/>
          <p:cNvSpPr/>
          <p:nvPr/>
        </p:nvSpPr>
        <p:spPr>
          <a:xfrm>
            <a:off x="793790" y="3359229"/>
            <a:ext cx="3069312" cy="326708"/>
          </a:xfrm>
          <a:prstGeom prst="rect">
            <a:avLst/>
          </a:prstGeom>
          <a:noFill/>
          <a:ln/>
        </p:spPr>
        <p:txBody>
          <a:bodyPr wrap="none" lIns="0" tIns="0" rIns="0" bIns="0" rtlCol="0" anchor="t"/>
          <a:lstStyle/>
          <a:p>
            <a:pPr marL="0" indent="0" algn="ctr">
              <a:lnSpc>
                <a:spcPts val="2550"/>
              </a:lnSpc>
              <a:buNone/>
            </a:pPr>
            <a:r>
              <a:rPr lang="en-US" sz="1600" dirty="0">
                <a:solidFill>
                  <a:srgbClr val="D4D4D1"/>
                </a:solidFill>
                <a:latin typeface="Roboto" pitchFamily="34" charset="0"/>
                <a:ea typeface="Roboto" pitchFamily="34" charset="-122"/>
                <a:cs typeface="Roboto" pitchFamily="34" charset="-120"/>
              </a:rPr>
              <a:t>Nearly ideal fairness</a:t>
            </a:r>
            <a:endParaRPr lang="en-US" sz="1600" dirty="0"/>
          </a:p>
        </p:txBody>
      </p:sp>
      <p:sp>
        <p:nvSpPr>
          <p:cNvPr id="6" name="Text 4"/>
          <p:cNvSpPr/>
          <p:nvPr/>
        </p:nvSpPr>
        <p:spPr>
          <a:xfrm>
            <a:off x="4118253" y="1989296"/>
            <a:ext cx="3069312" cy="673656"/>
          </a:xfrm>
          <a:prstGeom prst="rect">
            <a:avLst/>
          </a:prstGeom>
          <a:noFill/>
          <a:ln/>
        </p:spPr>
        <p:txBody>
          <a:bodyPr wrap="none" lIns="0" tIns="0" rIns="0" bIns="0" rtlCol="0" anchor="t"/>
          <a:lstStyle/>
          <a:p>
            <a:pPr marL="0" indent="0" algn="ctr">
              <a:lnSpc>
                <a:spcPts val="5300"/>
              </a:lnSpc>
              <a:buNone/>
            </a:pPr>
            <a:r>
              <a:rPr lang="en-US" sz="5300" dirty="0">
                <a:solidFill>
                  <a:srgbClr val="D4D4D1"/>
                </a:solidFill>
                <a:latin typeface="IBM Plex Sans Medium" pitchFamily="34" charset="0"/>
                <a:ea typeface="IBM Plex Sans Medium" pitchFamily="34" charset="-122"/>
                <a:cs typeface="IBM Plex Sans Medium" pitchFamily="34" charset="-120"/>
              </a:rPr>
              <a:t>51.55%</a:t>
            </a:r>
            <a:endParaRPr lang="en-US" sz="5300" dirty="0"/>
          </a:p>
        </p:txBody>
      </p:sp>
      <p:sp>
        <p:nvSpPr>
          <p:cNvPr id="7" name="Text 5"/>
          <p:cNvSpPr/>
          <p:nvPr/>
        </p:nvSpPr>
        <p:spPr>
          <a:xfrm>
            <a:off x="4376976" y="2917984"/>
            <a:ext cx="2551748" cy="318849"/>
          </a:xfrm>
          <a:prstGeom prst="rect">
            <a:avLst/>
          </a:prstGeom>
          <a:noFill/>
          <a:ln/>
        </p:spPr>
        <p:txBody>
          <a:bodyPr wrap="none" lIns="0" tIns="0" rIns="0" bIns="0" rtlCol="0" anchor="t"/>
          <a:lstStyle/>
          <a:p>
            <a:pPr marL="0" indent="0" algn="ctr">
              <a:lnSpc>
                <a:spcPts val="2500"/>
              </a:lnSpc>
              <a:buNone/>
            </a:pPr>
            <a:r>
              <a:rPr lang="en-US" sz="2000" dirty="0">
                <a:solidFill>
                  <a:srgbClr val="D4D4D1"/>
                </a:solidFill>
                <a:latin typeface="IBM Plex Sans Medium" pitchFamily="34" charset="0"/>
                <a:ea typeface="IBM Plex Sans Medium" pitchFamily="34" charset="-122"/>
                <a:cs typeface="IBM Plex Sans Medium" pitchFamily="34" charset="-120"/>
              </a:rPr>
              <a:t>Post Fine-tuning SS</a:t>
            </a:r>
            <a:endParaRPr lang="en-US" sz="2000" dirty="0"/>
          </a:p>
        </p:txBody>
      </p:sp>
      <p:sp>
        <p:nvSpPr>
          <p:cNvPr id="8" name="Text 6"/>
          <p:cNvSpPr/>
          <p:nvPr/>
        </p:nvSpPr>
        <p:spPr>
          <a:xfrm>
            <a:off x="4118253" y="3359229"/>
            <a:ext cx="3069312" cy="326708"/>
          </a:xfrm>
          <a:prstGeom prst="rect">
            <a:avLst/>
          </a:prstGeom>
          <a:noFill/>
          <a:ln/>
        </p:spPr>
        <p:txBody>
          <a:bodyPr wrap="none" lIns="0" tIns="0" rIns="0" bIns="0" rtlCol="0" anchor="t"/>
          <a:lstStyle/>
          <a:p>
            <a:pPr marL="0" indent="0" algn="ctr">
              <a:lnSpc>
                <a:spcPts val="2550"/>
              </a:lnSpc>
              <a:buNone/>
            </a:pPr>
            <a:r>
              <a:rPr lang="en-US" sz="1600" dirty="0">
                <a:solidFill>
                  <a:srgbClr val="D4D4D1"/>
                </a:solidFill>
                <a:latin typeface="Roboto" pitchFamily="34" charset="0"/>
                <a:ea typeface="Roboto" pitchFamily="34" charset="-122"/>
                <a:cs typeface="Roboto" pitchFamily="34" charset="-120"/>
              </a:rPr>
              <a:t>+0.49% change</a:t>
            </a:r>
            <a:endParaRPr lang="en-US" sz="1600" dirty="0"/>
          </a:p>
        </p:txBody>
      </p:sp>
      <p:sp>
        <p:nvSpPr>
          <p:cNvPr id="9" name="Text 7"/>
          <p:cNvSpPr/>
          <p:nvPr/>
        </p:nvSpPr>
        <p:spPr>
          <a:xfrm>
            <a:off x="7442716" y="1989296"/>
            <a:ext cx="3069312" cy="673656"/>
          </a:xfrm>
          <a:prstGeom prst="rect">
            <a:avLst/>
          </a:prstGeom>
          <a:noFill/>
          <a:ln/>
        </p:spPr>
        <p:txBody>
          <a:bodyPr wrap="none" lIns="0" tIns="0" rIns="0" bIns="0" rtlCol="0" anchor="t"/>
          <a:lstStyle/>
          <a:p>
            <a:pPr marL="0" indent="0" algn="ctr">
              <a:lnSpc>
                <a:spcPts val="5300"/>
              </a:lnSpc>
              <a:buNone/>
            </a:pPr>
            <a:r>
              <a:rPr lang="en-US" sz="5300" dirty="0">
                <a:solidFill>
                  <a:srgbClr val="D4D4D1"/>
                </a:solidFill>
                <a:latin typeface="IBM Plex Sans Medium" pitchFamily="34" charset="0"/>
                <a:ea typeface="IBM Plex Sans Medium" pitchFamily="34" charset="-122"/>
                <a:cs typeface="IBM Plex Sans Medium" pitchFamily="34" charset="-120"/>
              </a:rPr>
              <a:t>+2.42%</a:t>
            </a:r>
            <a:endParaRPr lang="en-US" sz="5300" dirty="0"/>
          </a:p>
        </p:txBody>
      </p:sp>
      <p:sp>
        <p:nvSpPr>
          <p:cNvPr id="10" name="Text 8"/>
          <p:cNvSpPr/>
          <p:nvPr/>
        </p:nvSpPr>
        <p:spPr>
          <a:xfrm>
            <a:off x="7701439" y="2917984"/>
            <a:ext cx="2551748" cy="318849"/>
          </a:xfrm>
          <a:prstGeom prst="rect">
            <a:avLst/>
          </a:prstGeom>
          <a:noFill/>
          <a:ln/>
        </p:spPr>
        <p:txBody>
          <a:bodyPr wrap="none" lIns="0" tIns="0" rIns="0" bIns="0" rtlCol="0" anchor="t"/>
          <a:lstStyle/>
          <a:p>
            <a:pPr marL="0" indent="0" algn="ctr">
              <a:lnSpc>
                <a:spcPts val="2500"/>
              </a:lnSpc>
              <a:buNone/>
            </a:pPr>
            <a:r>
              <a:rPr lang="en-US" sz="2000" dirty="0">
                <a:solidFill>
                  <a:srgbClr val="D4D4D1"/>
                </a:solidFill>
                <a:latin typeface="IBM Plex Sans Medium" pitchFamily="34" charset="0"/>
                <a:ea typeface="IBM Plex Sans Medium" pitchFamily="34" charset="-122"/>
                <a:cs typeface="IBM Plex Sans Medium" pitchFamily="34" charset="-120"/>
              </a:rPr>
              <a:t>LMS Improvement</a:t>
            </a:r>
            <a:endParaRPr lang="en-US" sz="2000" dirty="0"/>
          </a:p>
        </p:txBody>
      </p:sp>
      <p:sp>
        <p:nvSpPr>
          <p:cNvPr id="11" name="Text 9"/>
          <p:cNvSpPr/>
          <p:nvPr/>
        </p:nvSpPr>
        <p:spPr>
          <a:xfrm>
            <a:off x="7442716" y="3359229"/>
            <a:ext cx="3069312" cy="326708"/>
          </a:xfrm>
          <a:prstGeom prst="rect">
            <a:avLst/>
          </a:prstGeom>
          <a:noFill/>
          <a:ln/>
        </p:spPr>
        <p:txBody>
          <a:bodyPr wrap="none" lIns="0" tIns="0" rIns="0" bIns="0" rtlCol="0" anchor="t"/>
          <a:lstStyle/>
          <a:p>
            <a:pPr marL="0" indent="0" algn="ctr">
              <a:lnSpc>
                <a:spcPts val="2550"/>
              </a:lnSpc>
              <a:buNone/>
            </a:pPr>
            <a:r>
              <a:rPr lang="en-US" sz="1600" dirty="0">
                <a:solidFill>
                  <a:srgbClr val="D4D4D1"/>
                </a:solidFill>
                <a:latin typeface="Roboto" pitchFamily="34" charset="0"/>
                <a:ea typeface="Roboto" pitchFamily="34" charset="-122"/>
                <a:cs typeface="Roboto" pitchFamily="34" charset="-120"/>
              </a:rPr>
              <a:t>Significant gain</a:t>
            </a:r>
            <a:endParaRPr lang="en-US" sz="1600" dirty="0"/>
          </a:p>
        </p:txBody>
      </p:sp>
      <p:sp>
        <p:nvSpPr>
          <p:cNvPr id="12" name="Text 10"/>
          <p:cNvSpPr/>
          <p:nvPr/>
        </p:nvSpPr>
        <p:spPr>
          <a:xfrm>
            <a:off x="10767179" y="1989296"/>
            <a:ext cx="3069431" cy="673656"/>
          </a:xfrm>
          <a:prstGeom prst="rect">
            <a:avLst/>
          </a:prstGeom>
          <a:noFill/>
          <a:ln/>
        </p:spPr>
        <p:txBody>
          <a:bodyPr wrap="none" lIns="0" tIns="0" rIns="0" bIns="0" rtlCol="0" anchor="t"/>
          <a:lstStyle/>
          <a:p>
            <a:pPr marL="0" indent="0" algn="ctr">
              <a:lnSpc>
                <a:spcPts val="5300"/>
              </a:lnSpc>
              <a:buNone/>
            </a:pPr>
            <a:r>
              <a:rPr lang="en-US" sz="5300" dirty="0">
                <a:solidFill>
                  <a:srgbClr val="D4D4D1"/>
                </a:solidFill>
                <a:latin typeface="IBM Plex Sans Medium" pitchFamily="34" charset="0"/>
                <a:ea typeface="IBM Plex Sans Medium" pitchFamily="34" charset="-122"/>
                <a:cs typeface="IBM Plex Sans Medium" pitchFamily="34" charset="-120"/>
              </a:rPr>
              <a:t>+1.67</a:t>
            </a:r>
            <a:endParaRPr lang="en-US" sz="5300" dirty="0"/>
          </a:p>
        </p:txBody>
      </p:sp>
      <p:sp>
        <p:nvSpPr>
          <p:cNvPr id="13" name="Text 11"/>
          <p:cNvSpPr/>
          <p:nvPr/>
        </p:nvSpPr>
        <p:spPr>
          <a:xfrm>
            <a:off x="11026021" y="2917984"/>
            <a:ext cx="2551748" cy="318849"/>
          </a:xfrm>
          <a:prstGeom prst="rect">
            <a:avLst/>
          </a:prstGeom>
          <a:noFill/>
          <a:ln/>
        </p:spPr>
        <p:txBody>
          <a:bodyPr wrap="none" lIns="0" tIns="0" rIns="0" bIns="0" rtlCol="0" anchor="t"/>
          <a:lstStyle/>
          <a:p>
            <a:pPr marL="0" indent="0" algn="ctr">
              <a:lnSpc>
                <a:spcPts val="2500"/>
              </a:lnSpc>
              <a:buNone/>
            </a:pPr>
            <a:r>
              <a:rPr lang="en-US" sz="2000" dirty="0">
                <a:solidFill>
                  <a:srgbClr val="D4D4D1"/>
                </a:solidFill>
                <a:latin typeface="IBM Plex Sans Medium" pitchFamily="34" charset="0"/>
                <a:ea typeface="IBM Plex Sans Medium" pitchFamily="34" charset="-122"/>
                <a:cs typeface="IBM Plex Sans Medium" pitchFamily="34" charset="-120"/>
              </a:rPr>
              <a:t>ICAT Gain</a:t>
            </a:r>
            <a:endParaRPr lang="en-US" sz="2000" dirty="0"/>
          </a:p>
        </p:txBody>
      </p:sp>
      <p:sp>
        <p:nvSpPr>
          <p:cNvPr id="14" name="Text 12"/>
          <p:cNvSpPr/>
          <p:nvPr/>
        </p:nvSpPr>
        <p:spPr>
          <a:xfrm>
            <a:off x="10767179" y="3359229"/>
            <a:ext cx="3069431" cy="326708"/>
          </a:xfrm>
          <a:prstGeom prst="rect">
            <a:avLst/>
          </a:prstGeom>
          <a:noFill/>
          <a:ln/>
        </p:spPr>
        <p:txBody>
          <a:bodyPr wrap="none" lIns="0" tIns="0" rIns="0" bIns="0" rtlCol="0" anchor="t"/>
          <a:lstStyle/>
          <a:p>
            <a:pPr marL="0" indent="0" algn="ctr">
              <a:lnSpc>
                <a:spcPts val="2550"/>
              </a:lnSpc>
              <a:buNone/>
            </a:pPr>
            <a:r>
              <a:rPr lang="en-US" sz="1600" dirty="0">
                <a:solidFill>
                  <a:srgbClr val="D4D4D1"/>
                </a:solidFill>
                <a:latin typeface="Roboto" pitchFamily="34" charset="0"/>
                <a:ea typeface="Roboto" pitchFamily="34" charset="-122"/>
                <a:cs typeface="Roboto" pitchFamily="34" charset="-120"/>
              </a:rPr>
              <a:t>Overall improvement</a:t>
            </a:r>
            <a:endParaRPr lang="en-US" sz="1600" dirty="0"/>
          </a:p>
        </p:txBody>
      </p:sp>
      <p:sp>
        <p:nvSpPr>
          <p:cNvPr id="15" name="Text 13"/>
          <p:cNvSpPr/>
          <p:nvPr/>
        </p:nvSpPr>
        <p:spPr>
          <a:xfrm>
            <a:off x="793790" y="4119563"/>
            <a:ext cx="3062168" cy="382786"/>
          </a:xfrm>
          <a:prstGeom prst="rect">
            <a:avLst/>
          </a:prstGeom>
          <a:noFill/>
          <a:ln/>
        </p:spPr>
        <p:txBody>
          <a:bodyPr wrap="none" lIns="0" tIns="0" rIns="0" bIns="0" rtlCol="0" anchor="t"/>
          <a:lstStyle/>
          <a:p>
            <a:pPr marL="0" indent="0" algn="l">
              <a:lnSpc>
                <a:spcPts val="3000"/>
              </a:lnSpc>
              <a:buNone/>
            </a:pPr>
            <a:r>
              <a:rPr lang="en-US" sz="2400" dirty="0">
                <a:solidFill>
                  <a:srgbClr val="F3F3F2"/>
                </a:solidFill>
                <a:latin typeface="IBM Plex Sans Medium" pitchFamily="34" charset="0"/>
                <a:ea typeface="IBM Plex Sans Medium" pitchFamily="34" charset="-122"/>
                <a:cs typeface="IBM Plex Sans Medium" pitchFamily="34" charset="-120"/>
              </a:rPr>
              <a:t>Key Conclusions</a:t>
            </a:r>
            <a:endParaRPr lang="en-US" sz="2400" dirty="0"/>
          </a:p>
        </p:txBody>
      </p:sp>
      <p:sp>
        <p:nvSpPr>
          <p:cNvPr id="16" name="Text 14"/>
          <p:cNvSpPr/>
          <p:nvPr/>
        </p:nvSpPr>
        <p:spPr>
          <a:xfrm>
            <a:off x="793790" y="4706422"/>
            <a:ext cx="6272451" cy="326708"/>
          </a:xfrm>
          <a:prstGeom prst="rect">
            <a:avLst/>
          </a:prstGeom>
          <a:noFill/>
          <a:ln/>
        </p:spPr>
        <p:txBody>
          <a:bodyPr wrap="none" lIns="0" tIns="0" rIns="0" bIns="0" rtlCol="0" anchor="t"/>
          <a:lstStyle/>
          <a:p>
            <a:pPr marL="342900" indent="-342900" algn="l">
              <a:lnSpc>
                <a:spcPts val="2550"/>
              </a:lnSpc>
              <a:buSzPct val="100000"/>
              <a:buFont typeface="+mj-lt"/>
              <a:buAutoNum type="arabicPeriod"/>
            </a:pPr>
            <a:r>
              <a:rPr lang="en-US" sz="1600" dirty="0">
                <a:solidFill>
                  <a:srgbClr val="D4D4D1"/>
                </a:solidFill>
                <a:latin typeface="Roboto" pitchFamily="34" charset="0"/>
                <a:ea typeface="Roboto" pitchFamily="34" charset="-122"/>
                <a:cs typeface="Roboto" pitchFamily="34" charset="-120"/>
              </a:rPr>
              <a:t>Not all models require debiasing interventions</a:t>
            </a:r>
            <a:endParaRPr lang="en-US" sz="1600" dirty="0"/>
          </a:p>
        </p:txBody>
      </p:sp>
      <p:sp>
        <p:nvSpPr>
          <p:cNvPr id="17" name="Text 15"/>
          <p:cNvSpPr/>
          <p:nvPr/>
        </p:nvSpPr>
        <p:spPr>
          <a:xfrm>
            <a:off x="793790" y="5104567"/>
            <a:ext cx="6272451" cy="653415"/>
          </a:xfrm>
          <a:prstGeom prst="rect">
            <a:avLst/>
          </a:prstGeom>
          <a:noFill/>
          <a:ln/>
        </p:spPr>
        <p:txBody>
          <a:bodyPr wrap="square" lIns="0" tIns="0" rIns="0" bIns="0" rtlCol="0" anchor="t"/>
          <a:lstStyle/>
          <a:p>
            <a:pPr marL="342900" indent="-342900" algn="l">
              <a:lnSpc>
                <a:spcPts val="2550"/>
              </a:lnSpc>
              <a:buSzPct val="100000"/>
              <a:buFont typeface="+mj-lt"/>
              <a:buAutoNum type="arabicPeriod" startAt="2"/>
            </a:pPr>
            <a:r>
              <a:rPr lang="en-US" sz="1600" dirty="0">
                <a:solidFill>
                  <a:srgbClr val="D4D4D1"/>
                </a:solidFill>
                <a:latin typeface="Roboto" pitchFamily="34" charset="0"/>
                <a:ea typeface="Roboto" pitchFamily="34" charset="-122"/>
                <a:cs typeface="Roboto" pitchFamily="34" charset="-120"/>
              </a:rPr>
              <a:t>Counterfactual fine-tuning has minimal impact on already-fair models</a:t>
            </a:r>
            <a:endParaRPr lang="en-US" sz="1600" dirty="0"/>
          </a:p>
        </p:txBody>
      </p:sp>
      <p:sp>
        <p:nvSpPr>
          <p:cNvPr id="18" name="Text 16"/>
          <p:cNvSpPr/>
          <p:nvPr/>
        </p:nvSpPr>
        <p:spPr>
          <a:xfrm>
            <a:off x="793790" y="5829419"/>
            <a:ext cx="6272451" cy="326708"/>
          </a:xfrm>
          <a:prstGeom prst="rect">
            <a:avLst/>
          </a:prstGeom>
          <a:noFill/>
          <a:ln/>
        </p:spPr>
        <p:txBody>
          <a:bodyPr wrap="none" lIns="0" tIns="0" rIns="0" bIns="0" rtlCol="0" anchor="t"/>
          <a:lstStyle/>
          <a:p>
            <a:pPr marL="342900" indent="-342900" algn="l">
              <a:lnSpc>
                <a:spcPts val="2550"/>
              </a:lnSpc>
              <a:buSzPct val="100000"/>
              <a:buFont typeface="+mj-lt"/>
              <a:buAutoNum type="arabicPeriod" startAt="3"/>
            </a:pPr>
            <a:r>
              <a:rPr lang="en-US" sz="1600" dirty="0">
                <a:solidFill>
                  <a:srgbClr val="D4D4D1"/>
                </a:solidFill>
                <a:latin typeface="Roboto" pitchFamily="34" charset="0"/>
                <a:ea typeface="Roboto" pitchFamily="34" charset="-122"/>
                <a:cs typeface="Roboto" pitchFamily="34" charset="-120"/>
              </a:rPr>
              <a:t>Language modeling capabilities improved without reducing bias</a:t>
            </a:r>
            <a:endParaRPr lang="en-US" sz="1600" dirty="0"/>
          </a:p>
        </p:txBody>
      </p:sp>
      <p:sp>
        <p:nvSpPr>
          <p:cNvPr id="19" name="Text 17"/>
          <p:cNvSpPr/>
          <p:nvPr/>
        </p:nvSpPr>
        <p:spPr>
          <a:xfrm>
            <a:off x="7571780" y="4119563"/>
            <a:ext cx="3792736" cy="382786"/>
          </a:xfrm>
          <a:prstGeom prst="rect">
            <a:avLst/>
          </a:prstGeom>
          <a:noFill/>
          <a:ln/>
        </p:spPr>
        <p:txBody>
          <a:bodyPr wrap="none" lIns="0" tIns="0" rIns="0" bIns="0" rtlCol="0" anchor="t"/>
          <a:lstStyle/>
          <a:p>
            <a:pPr marL="0" indent="0" algn="l">
              <a:lnSpc>
                <a:spcPts val="3000"/>
              </a:lnSpc>
              <a:buNone/>
            </a:pPr>
            <a:r>
              <a:rPr lang="en-US" sz="2400" dirty="0">
                <a:solidFill>
                  <a:srgbClr val="F3F3F2"/>
                </a:solidFill>
                <a:latin typeface="IBM Plex Sans Medium" pitchFamily="34" charset="0"/>
                <a:ea typeface="IBM Plex Sans Medium" pitchFamily="34" charset="-122"/>
                <a:cs typeface="IBM Plex Sans Medium" pitchFamily="34" charset="-120"/>
              </a:rPr>
              <a:t>Future Research Directions</a:t>
            </a:r>
            <a:endParaRPr lang="en-US" sz="2400" dirty="0"/>
          </a:p>
        </p:txBody>
      </p:sp>
      <p:sp>
        <p:nvSpPr>
          <p:cNvPr id="20" name="Text 18"/>
          <p:cNvSpPr/>
          <p:nvPr/>
        </p:nvSpPr>
        <p:spPr>
          <a:xfrm>
            <a:off x="7571780" y="4706422"/>
            <a:ext cx="6272451" cy="326708"/>
          </a:xfrm>
          <a:prstGeom prst="rect">
            <a:avLst/>
          </a:prstGeom>
          <a:noFill/>
          <a:ln/>
        </p:spPr>
        <p:txBody>
          <a:bodyPr wrap="none" lIns="0" tIns="0" rIns="0" bIns="0" rtlCol="0" anchor="t"/>
          <a:lstStyle/>
          <a:p>
            <a:pPr marL="342900" indent="-342900" algn="l">
              <a:lnSpc>
                <a:spcPts val="2550"/>
              </a:lnSpc>
              <a:buSzPct val="100000"/>
              <a:buChar char="•"/>
            </a:pPr>
            <a:r>
              <a:rPr lang="en-US" sz="1600" dirty="0">
                <a:solidFill>
                  <a:srgbClr val="D4D4D1"/>
                </a:solidFill>
                <a:latin typeface="Roboto" pitchFamily="34" charset="0"/>
                <a:ea typeface="Roboto" pitchFamily="34" charset="-122"/>
                <a:cs typeface="Roboto" pitchFamily="34" charset="-120"/>
              </a:rPr>
              <a:t>Why is RoBERTa inherently fairer than expected?</a:t>
            </a:r>
            <a:endParaRPr lang="en-US" sz="1600" dirty="0"/>
          </a:p>
        </p:txBody>
      </p:sp>
      <p:sp>
        <p:nvSpPr>
          <p:cNvPr id="21" name="Text 19"/>
          <p:cNvSpPr/>
          <p:nvPr/>
        </p:nvSpPr>
        <p:spPr>
          <a:xfrm>
            <a:off x="7571780" y="5104567"/>
            <a:ext cx="6272451" cy="653415"/>
          </a:xfrm>
          <a:prstGeom prst="rect">
            <a:avLst/>
          </a:prstGeom>
          <a:noFill/>
          <a:ln/>
        </p:spPr>
        <p:txBody>
          <a:bodyPr wrap="square" lIns="0" tIns="0" rIns="0" bIns="0" rtlCol="0" anchor="t"/>
          <a:lstStyle/>
          <a:p>
            <a:pPr marL="342900" indent="-342900" algn="l">
              <a:lnSpc>
                <a:spcPts val="2550"/>
              </a:lnSpc>
              <a:buSzPct val="100000"/>
              <a:buChar char="•"/>
            </a:pPr>
            <a:r>
              <a:rPr lang="en-US" sz="1600" dirty="0">
                <a:solidFill>
                  <a:srgbClr val="D4D4D1"/>
                </a:solidFill>
                <a:latin typeface="Roboto" pitchFamily="34" charset="0"/>
                <a:ea typeface="Roboto" pitchFamily="34" charset="-122"/>
                <a:cs typeface="Roboto" pitchFamily="34" charset="-120"/>
              </a:rPr>
              <a:t>Do other pre-trained models show similar baseline fairness patterns?</a:t>
            </a:r>
            <a:endParaRPr lang="en-US" sz="1600" dirty="0"/>
          </a:p>
        </p:txBody>
      </p:sp>
      <p:sp>
        <p:nvSpPr>
          <p:cNvPr id="22" name="Text 20"/>
          <p:cNvSpPr/>
          <p:nvPr/>
        </p:nvSpPr>
        <p:spPr>
          <a:xfrm>
            <a:off x="7571780" y="5829419"/>
            <a:ext cx="6272451" cy="326708"/>
          </a:xfrm>
          <a:prstGeom prst="rect">
            <a:avLst/>
          </a:prstGeom>
          <a:noFill/>
          <a:ln/>
        </p:spPr>
        <p:txBody>
          <a:bodyPr wrap="none" lIns="0" tIns="0" rIns="0" bIns="0" rtlCol="0" anchor="t"/>
          <a:lstStyle/>
          <a:p>
            <a:pPr marL="342900" indent="-342900" algn="l">
              <a:lnSpc>
                <a:spcPts val="2550"/>
              </a:lnSpc>
              <a:buSzPct val="100000"/>
              <a:buChar char="•"/>
            </a:pPr>
            <a:r>
              <a:rPr lang="en-US" sz="1600" dirty="0">
                <a:solidFill>
                  <a:srgbClr val="D4D4D1"/>
                </a:solidFill>
                <a:latin typeface="Roboto" pitchFamily="34" charset="0"/>
                <a:ea typeface="Roboto" pitchFamily="34" charset="-122"/>
                <a:cs typeface="Roboto" pitchFamily="34" charset="-120"/>
              </a:rPr>
              <a:t>Develop more sensitive bias detection methods</a:t>
            </a:r>
            <a:endParaRPr lang="en-US" sz="1600" dirty="0"/>
          </a:p>
        </p:txBody>
      </p:sp>
      <p:sp>
        <p:nvSpPr>
          <p:cNvPr id="23" name="Text 21"/>
          <p:cNvSpPr/>
          <p:nvPr/>
        </p:nvSpPr>
        <p:spPr>
          <a:xfrm>
            <a:off x="7571780" y="6227564"/>
            <a:ext cx="6272451" cy="326708"/>
          </a:xfrm>
          <a:prstGeom prst="rect">
            <a:avLst/>
          </a:prstGeom>
          <a:noFill/>
          <a:ln/>
        </p:spPr>
        <p:txBody>
          <a:bodyPr wrap="none" lIns="0" tIns="0" rIns="0" bIns="0" rtlCol="0" anchor="t"/>
          <a:lstStyle/>
          <a:p>
            <a:pPr marL="342900" indent="-342900" algn="l">
              <a:lnSpc>
                <a:spcPts val="2550"/>
              </a:lnSpc>
              <a:buSzPct val="100000"/>
              <a:buChar char="•"/>
            </a:pPr>
            <a:r>
              <a:rPr lang="en-US" sz="1600" dirty="0">
                <a:solidFill>
                  <a:srgbClr val="D4D4D1"/>
                </a:solidFill>
                <a:latin typeface="Roboto" pitchFamily="34" charset="0"/>
                <a:ea typeface="Roboto" pitchFamily="34" charset="-122"/>
                <a:cs typeface="Roboto" pitchFamily="34" charset="-120"/>
              </a:rPr>
              <a:t>Create conditional debiasing approaches</a:t>
            </a:r>
            <a:endParaRPr lang="en-US" sz="1600" dirty="0"/>
          </a:p>
        </p:txBody>
      </p:sp>
      <p:sp>
        <p:nvSpPr>
          <p:cNvPr id="24" name="Text 22"/>
          <p:cNvSpPr/>
          <p:nvPr/>
        </p:nvSpPr>
        <p:spPr>
          <a:xfrm>
            <a:off x="7571780" y="6625709"/>
            <a:ext cx="6272451" cy="326708"/>
          </a:xfrm>
          <a:prstGeom prst="rect">
            <a:avLst/>
          </a:prstGeom>
          <a:noFill/>
          <a:ln/>
        </p:spPr>
        <p:txBody>
          <a:bodyPr wrap="none" lIns="0" tIns="0" rIns="0" bIns="0" rtlCol="0" anchor="t"/>
          <a:lstStyle/>
          <a:p>
            <a:pPr marL="342900" indent="-342900" algn="l">
              <a:lnSpc>
                <a:spcPts val="2550"/>
              </a:lnSpc>
              <a:buSzPct val="100000"/>
              <a:buChar char="•"/>
            </a:pPr>
            <a:r>
              <a:rPr lang="en-US" sz="1600" dirty="0">
                <a:solidFill>
                  <a:srgbClr val="D4D4D1"/>
                </a:solidFill>
                <a:latin typeface="Roboto" pitchFamily="34" charset="0"/>
                <a:ea typeface="Roboto" pitchFamily="34" charset="-122"/>
                <a:cs typeface="Roboto" pitchFamily="34" charset="-120"/>
              </a:rPr>
              <a:t>Validate findings on downstream tasks in real-world applications</a:t>
            </a:r>
            <a:endParaRPr lang="en-US" sz="1600" dirty="0"/>
          </a:p>
        </p:txBody>
      </p:sp>
      <p:sp>
        <p:nvSpPr>
          <p:cNvPr id="25" name="Shape 23"/>
          <p:cNvSpPr/>
          <p:nvPr/>
        </p:nvSpPr>
        <p:spPr>
          <a:xfrm>
            <a:off x="793790" y="7355402"/>
            <a:ext cx="13042821" cy="33099"/>
          </a:xfrm>
          <a:prstGeom prst="rect">
            <a:avLst/>
          </a:prstGeom>
          <a:solidFill>
            <a:srgbClr val="D4D4D1">
              <a:alpha val="50000"/>
            </a:srgbClr>
          </a:solidFill>
          <a:ln/>
        </p:spPr>
        <p:txBody>
          <a:bodyPr/>
          <a:lstStyle/>
          <a:p>
            <a:endParaRPr lang="it-IT"/>
          </a:p>
        </p:txBody>
      </p:sp>
      <p:sp>
        <p:nvSpPr>
          <p:cNvPr id="26" name="Rettangolo 25">
            <a:extLst>
              <a:ext uri="{FF2B5EF4-FFF2-40B4-BE49-F238E27FC236}">
                <a16:creationId xmlns:a16="http://schemas.microsoft.com/office/drawing/2014/main" id="{75B3E258-F812-EB07-D1FB-D05FC9032929}"/>
              </a:ext>
            </a:extLst>
          </p:cNvPr>
          <p:cNvSpPr/>
          <p:nvPr/>
        </p:nvSpPr>
        <p:spPr>
          <a:xfrm>
            <a:off x="11822805" y="7437549"/>
            <a:ext cx="2717443" cy="663262"/>
          </a:xfrm>
          <a:prstGeom prst="rect">
            <a:avLst/>
          </a:prstGeom>
          <a:solidFill>
            <a:srgbClr val="292C3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775</Words>
  <Application>Microsoft Office PowerPoint</Application>
  <PresentationFormat>Personalizzato</PresentationFormat>
  <Paragraphs>131</Paragraphs>
  <Slides>8</Slides>
  <Notes>8</Notes>
  <HiddenSlides>0</HiddenSlides>
  <MMClips>0</MMClips>
  <ScaleCrop>false</ScaleCrop>
  <HeadingPairs>
    <vt:vector size="6" baseType="variant">
      <vt:variant>
        <vt:lpstr>Caratteri utilizzati</vt:lpstr>
      </vt:variant>
      <vt:variant>
        <vt:i4>5</vt:i4>
      </vt:variant>
      <vt:variant>
        <vt:lpstr>Tema</vt:lpstr>
      </vt:variant>
      <vt:variant>
        <vt:i4>1</vt:i4>
      </vt:variant>
      <vt:variant>
        <vt:lpstr>Titoli diapositive</vt:lpstr>
      </vt:variant>
      <vt:variant>
        <vt:i4>8</vt:i4>
      </vt:variant>
    </vt:vector>
  </HeadingPairs>
  <TitlesOfParts>
    <vt:vector size="14" baseType="lpstr">
      <vt:lpstr>Arial</vt:lpstr>
      <vt:lpstr>Roboto</vt:lpstr>
      <vt:lpstr>Consolas</vt:lpstr>
      <vt:lpstr>IBM Plex Sans Medium</vt:lpstr>
      <vt:lpstr>IBM Plex Sans Light</vt:lpstr>
      <vt:lpstr>Office Theme</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Fabio C</cp:lastModifiedBy>
  <cp:revision>3</cp:revision>
  <dcterms:created xsi:type="dcterms:W3CDTF">2025-11-03T20:11:36Z</dcterms:created>
  <dcterms:modified xsi:type="dcterms:W3CDTF">2025-11-05T10:19:52Z</dcterms:modified>
</cp:coreProperties>
</file>